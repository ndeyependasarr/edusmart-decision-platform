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37115a8-ef31-debf-12ae-2c1dc04a6c14}">
          <p14:sldIdLst>
            <p14:sldId id="256"/>
            <p14:sldId id="257"/>
          </p14:sldIdLst>
        </p14:section>
        <p14:section name="Le projet" id="{66e66c83-7b9b-c068-d1a9-fb159a62526d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Les résultats" id="{8723b1fb-bd60-ae02-01bf-29dac7c2c25d}">
          <p14:sldIdLst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Décider" id="{50cee379-a48e-11f1-d8bd-813a03967ca3}">
          <p14:sldIdLst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Anomalies</c:v>
                </c:pt>
              </c:strCache>
            </c:strRef>
          </c:tx>
          <c:spPr>
            <a:solidFill>
              <a:srgbClr val="5B6B7F"/>
            </a:solidFill>
            <a:effectLst/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4471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4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Signalées</c:v>
                  </c:pt>
                  <c:pt idx="1">
                    <c:v>Rejetées</c:v>
                  </c:pt>
                  <c:pt idx="2">
                    <c:v>Corrigées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78161</c:v>
                </c:pt>
                <c:pt idx="1">
                  <c:v>25932</c:v>
                </c:pt>
                <c:pt idx="2">
                  <c:v>55853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b="0" i="0" strike="noStrike" sz="14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B7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B7F"/>
                </a:solidFill>
                <a:latin typeface="+mn-lt"/>
              </a:rPr>
              <a:t>Montant non encaissé par année académique (millions XOF)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 encaissé (M XOF)</c:v>
                </c:pt>
              </c:strCache>
            </c:strRef>
          </c:tx>
          <c:spPr>
            <a:solidFill>
              <a:srgbClr val="B4471B"/>
            </a:solidFill>
            <a:effectLst/>
          </c:spPr>
          <c:invertIfNegative val="0"/>
          <c:dLbls>
            <c:numFmt formatCode="# ##0&quot; M&quot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2023-2024</c:v>
                  </c:pt>
                  <c:pt idx="1">
                    <c:v>2024-2025</c:v>
                  </c:pt>
                  <c:pt idx="2">
                    <c:v>2025-2026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311</c:v>
                </c:pt>
                <c:pt idx="1">
                  <c:v>523</c:v>
                </c:pt>
                <c:pt idx="2">
                  <c:v>655</c:v>
                </c:pt>
              </c:numCache>
            </c:numRef>
          </c:val>
        </c:ser>
        <c:dLbls>
          <c:numFmt formatCode="# ##0&quot; M&quot;" sourceLinked="0"/>
          <c:txPr>
            <a:bodyPr/>
            <a:lstStyle/>
            <a:p>
              <a:pPr>
                <a:defRPr b="0" i="0" strike="noStrike" sz="16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B7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B7F"/>
                </a:solidFill>
                <a:latin typeface="+mn-lt"/>
              </a:rPr>
              <a:t>Heures d'absence des enseignants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 remplacées</c:v>
                </c:pt>
              </c:strCache>
            </c:strRef>
          </c:tx>
          <c:spPr>
            <a:solidFill>
              <a:srgbClr val="B4471B"/>
            </a:solidFill>
            <a:effectLst/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2023-2024</c:v>
                  </c:pt>
                  <c:pt idx="1">
                    <c:v>2024-2025</c:v>
                  </c:pt>
                  <c:pt idx="2">
                    <c:v>2025-2026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2144</c:v>
                </c:pt>
                <c:pt idx="1">
                  <c:v>2211</c:v>
                </c:pt>
                <c:pt idx="2">
                  <c:v>2054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Remplacées</c:v>
                </c:pt>
              </c:strCache>
            </c:strRef>
          </c:tx>
          <c:spPr>
            <a:solidFill>
              <a:srgbClr val="C9D4D2"/>
            </a:solidFill>
            <a:effectLst/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2023-2024</c:v>
                  </c:pt>
                  <c:pt idx="1">
                    <c:v>2024-2025</c:v>
                  </c:pt>
                  <c:pt idx="2">
                    <c:v>2025-2026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1437</c:v>
                </c:pt>
                <c:pt idx="1">
                  <c:v>1189</c:v>
                </c:pt>
                <c:pt idx="2">
                  <c:v>1330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b="0" i="0" strike="noStrike" sz="1400" u="none">
                  <a:solidFill>
                    <a:srgbClr val="1B2A41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B2A4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 du module Business Intelligence et Analyse Décisionnelle. La présentation suit les 11 points de la Phase 18 ; les cercles safran numérotés renvoient à ces 11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Commencer par la conclusion : une idée maîtresse, quatre chiffres. Le dernier chiffre est en rouge brique : c'est l'alerte principale (cible proposée de 30 % d'actifs).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pratique de la Phase 1. Dire au décideur ce que ses données ne permettent pas de savoir fait partie du livrable.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anomalie est journalisée à son injection : ce journal sert de vérité terrain à la porte G3, et le pipeline ne le lit jamais.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nombre réel d'étudiants est la première question du DG. Sans rapprochement, la direction aurait compté 2,5 fois trop de personnes.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EtLT : seules des conversions techniques ont lieu au chargement (encodage, séparateur, sérialisation JSON). Toute correction métier est faite, et tracée, en SQL dans l'entrepôt.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actions décidées règle par règle. Corriger quand la bonne valeur se déduit sans ambiguïté ; rejeter une ligne inutilisable ou en double, en la conservant dans quality.rejets ; signaler quand la vraie valeur est inconnaissable.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 de mutation : on casse une donnée dans une transaction annulée (ligne perdue, clé orpheline, 1 000 XOF de trop) et la porte G6 doit passer au rouge. Un test qui ne peut pas échouer ne prouve rien.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six informations exigées par la Phase 6 (source, date, durée, nombre de lignes, erreurs, statut) sont dans etl_execution_log. Chaque ligne est validée immédiatement : même un arrêt brutal laisse une trace.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 tiré du test d'intégration du SCD 2. Limite à connaître : l'entrepôt actuellement chargé ne contient aucune version SCD 2 (les rechargements de test effacent la démonstration) ; le mécanisme est en place et testé.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Matrice de bus de Kimball. 7 dimensions au lieu des 5 du PDF : l'offre diplômante (filière, classe) et l'offre en ligne (module, quiz) sont deux hiérarchies différentes.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KPI est calculé par trois chemins indépendants (SQL sur le DW, Python sur la couche clean, DAX dans Power BI) avec le même résultat. Les cibles sont des propositions, à valider par la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cartes KPI de cette page ne réagissent pas aux segments (interactions modifiées volontairement) : les chiffres globaux restent visibles pendant l'exploration. Correctif du 21/10/2026 : relation fact_paiements → dim_region rendue active.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matrice filière × année colore les taux de recouvrement : tous entre 87 % et 94 %, ce qui reflète une simulation où les paiements suivent la même loi pour toutes les filières.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visuels choisis pour leur question : l'histogramme montre la forme d'une distribution, la carte de chaleur fait lire 168 valeurs d'un coup d'œil.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L'année 2025-2026 n'est pas close au 15/09/2026 : une partie des 655 M peut encore être encaissée. Les montants sont rattachés à l'année de la formation payée.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taux de réussite porte sur les quiz en ligne, pas sur le diplôme, qu'aucune source ne contient. La source ne date pas l'abandon : on sait combien abandonnent, pas quand ni pourquoi.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2025-2026 ne couvre que 11 mois de salaires (versés jusqu'en août). L'effectif enseignant est plafonné à 120 par construction de la simulation : la hausse des inscriptions par enseignant ne doit pas être surinterprétée.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qui n'est pas recommandé : une application tablette pour allonger les sessions (durées identiques sur tous les appareils), ou inciter à se connecter plus longtemps (aucune relation observée avec la progression).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ce que l'on ne sait pas renforce la crédibilité de tout le reste.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L'histoire en une minute : situation, complication, résolution.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_NU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EduSmart Decision Platform · Ndeye Penda SARR · M2 BI, UCAD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EduSmart Decision Platform · Ndeye Penda SARR · M2 BI, UCAD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EduSmart Decision Platform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De cinq sources dispersées à une plateforme décisionnelle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Ndeye Penda SARR · Master 2 Business Intelligence, UCAD · Octobre 2026</a:t>
            </a:r>
            <a:endParaRPr lang="en-US" sz="2000" dirty="0"/>
          </a:p>
        </p:txBody>
      </p:sp>
      <p:sp>
        <p:nvSpPr>
          <p:cNvPr id="4" name="motif_titre"/>
          <p:cNvSpPr/>
          <p:nvPr/>
        </p:nvSpPr>
        <p:spPr>
          <a:xfrm>
            <a:off x="548640" y="12344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L'essentiel en une page</a:t>
            </a:r>
            <a:endParaRPr lang="en-US" sz="3200" dirty="0"/>
          </a:p>
        </p:txBody>
      </p:sp>
      <p:sp>
        <p:nvSpPr>
          <p:cNvPr id="3" name="txt_1"/>
          <p:cNvSpPr txBox="1"/>
          <p:nvPr/>
        </p:nvSpPr>
        <p:spPr>
          <a:xfrm>
            <a:off x="548640" y="13716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EduSmart encaisse 90 % de ce qu'elle attend et ses apprenants réussissent leurs quiz (93 %), mais seulement 3 sur 10 sont actifs sur 30 jours. </a:t>
            </a:r>
            <a:pPr indent="0" marL="0">
              <a:buNone/>
            </a:pPr>
            <a:r>
              <a:rPr lang="en-US" sz="2200" b="1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priorité n'est plus de recruter, c'est d'engager et d'écouter. »</a:t>
            </a:r>
            <a:endParaRPr lang="en-US" sz="2200" dirty="0"/>
          </a:p>
        </p:txBody>
      </p:sp>
      <p:sp>
        <p:nvSpPr>
          <p:cNvPr id="4" name="carte_2"/>
          <p:cNvSpPr/>
          <p:nvPr/>
        </p:nvSpPr>
        <p:spPr>
          <a:xfrm>
            <a:off x="548640" y="301752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xt_3"/>
          <p:cNvSpPr txBox="1"/>
          <p:nvPr/>
        </p:nvSpPr>
        <p:spPr>
          <a:xfrm>
            <a:off x="777240" y="3246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10 500</a:t>
            </a:r>
            <a:endParaRPr lang="en-US" sz="3800" dirty="0"/>
          </a:p>
        </p:txBody>
      </p:sp>
      <p:sp>
        <p:nvSpPr>
          <p:cNvPr id="6" name="txt_4"/>
          <p:cNvSpPr txBox="1"/>
          <p:nvPr/>
        </p:nvSpPr>
        <p:spPr>
          <a:xfrm>
            <a:off x="777240" y="39959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étudiants réels (26 476 en additionnant les sources)</a:t>
            </a:r>
            <a:endParaRPr lang="en-US" sz="1400" dirty="0"/>
          </a:p>
        </p:txBody>
      </p:sp>
      <p:sp>
        <p:nvSpPr>
          <p:cNvPr id="7" name="carte_5"/>
          <p:cNvSpPr/>
          <p:nvPr/>
        </p:nvSpPr>
        <p:spPr>
          <a:xfrm>
            <a:off x="3355848" y="301752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xt_6"/>
          <p:cNvSpPr txBox="1"/>
          <p:nvPr/>
        </p:nvSpPr>
        <p:spPr>
          <a:xfrm>
            <a:off x="3584448" y="3246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13,554 Mds</a:t>
            </a:r>
            <a:endParaRPr lang="en-US" sz="3200" dirty="0"/>
          </a:p>
        </p:txBody>
      </p:sp>
      <p:sp>
        <p:nvSpPr>
          <p:cNvPr id="9" name="txt_7"/>
          <p:cNvSpPr txBox="1"/>
          <p:nvPr/>
        </p:nvSpPr>
        <p:spPr>
          <a:xfrm>
            <a:off x="3584448" y="39959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XOF de chiffre d'affaires encaissé</a:t>
            </a:r>
            <a:endParaRPr lang="en-US" sz="1400" dirty="0"/>
          </a:p>
        </p:txBody>
      </p:sp>
      <p:sp>
        <p:nvSpPr>
          <p:cNvPr id="10" name="carte_8"/>
          <p:cNvSpPr/>
          <p:nvPr/>
        </p:nvSpPr>
        <p:spPr>
          <a:xfrm>
            <a:off x="6163056" y="301752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xt_9"/>
          <p:cNvSpPr txBox="1"/>
          <p:nvPr/>
        </p:nvSpPr>
        <p:spPr>
          <a:xfrm>
            <a:off x="6391656" y="3246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90,10 %</a:t>
            </a:r>
            <a:endParaRPr lang="en-US" sz="3800" dirty="0"/>
          </a:p>
        </p:txBody>
      </p:sp>
      <p:sp>
        <p:nvSpPr>
          <p:cNvPr id="12" name="txt_10"/>
          <p:cNvSpPr txBox="1"/>
          <p:nvPr/>
        </p:nvSpPr>
        <p:spPr>
          <a:xfrm>
            <a:off x="6391656" y="39959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taux de recouvrement</a:t>
            </a:r>
            <a:endParaRPr lang="en-US" sz="1400" dirty="0"/>
          </a:p>
        </p:txBody>
      </p:sp>
      <p:sp>
        <p:nvSpPr>
          <p:cNvPr id="13" name="carte_11"/>
          <p:cNvSpPr/>
          <p:nvPr/>
        </p:nvSpPr>
        <p:spPr>
          <a:xfrm>
            <a:off x="8970264" y="301752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xt_12"/>
          <p:cNvSpPr txBox="1"/>
          <p:nvPr/>
        </p:nvSpPr>
        <p:spPr>
          <a:xfrm>
            <a:off x="9198864" y="3246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3 003</a:t>
            </a:r>
            <a:endParaRPr lang="en-US" sz="3800" dirty="0"/>
          </a:p>
        </p:txBody>
      </p:sp>
      <p:sp>
        <p:nvSpPr>
          <p:cNvPr id="15" name="txt_13"/>
          <p:cNvSpPr txBox="1"/>
          <p:nvPr/>
        </p:nvSpPr>
        <p:spPr>
          <a:xfrm>
            <a:off x="9198864" y="39959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étudiants actifs sur 30 jours, soit 28,6 %</a:t>
            </a:r>
            <a:endParaRPr lang="en-US" sz="1400" dirty="0"/>
          </a:p>
        </p:txBody>
      </p:sp>
      <p:sp>
        <p:nvSpPr>
          <p:cNvPr id="16" name="txt_14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Données simulées · date de référence : 15/09/2026 · chiffres validés par 3 chemins de calcul (SQL, Python, DAX)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 Directeur Général pose 7 questions</a:t>
            </a:r>
            <a:endParaRPr lang="en-US" sz="3200" dirty="0"/>
          </a:p>
        </p:txBody>
      </p:sp>
      <p:sp>
        <p:nvSpPr>
          <p:cNvPr id="3" name="badge_15"/>
          <p:cNvSpPr/>
          <p:nvPr/>
        </p:nvSpPr>
        <p:spPr>
          <a:xfrm>
            <a:off x="548640" y="42976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badge_num_16"/>
          <p:cNvSpPr txBox="1"/>
          <p:nvPr/>
        </p:nvSpPr>
        <p:spPr>
          <a:xfrm>
            <a:off x="548640" y="429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carte_17"/>
          <p:cNvSpPr/>
          <p:nvPr/>
        </p:nvSpPr>
        <p:spPr>
          <a:xfrm>
            <a:off x="548640" y="1463040"/>
            <a:ext cx="53949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xt_18"/>
          <p:cNvSpPr txBox="1"/>
          <p:nvPr/>
        </p:nvSpPr>
        <p:spPr>
          <a:xfrm>
            <a:off x="822960" y="1463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nombre réel d'étudiants</a:t>
            </a:r>
            <a:endParaRPr lang="en-US" sz="1700" dirty="0"/>
          </a:p>
        </p:txBody>
      </p:sp>
      <p:sp>
        <p:nvSpPr>
          <p:cNvPr id="7" name="pastille_19"/>
          <p:cNvSpPr/>
          <p:nvPr/>
        </p:nvSpPr>
        <p:spPr>
          <a:xfrm>
            <a:off x="4251960" y="1709928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xt_20"/>
          <p:cNvSpPr txBox="1"/>
          <p:nvPr/>
        </p:nvSpPr>
        <p:spPr>
          <a:xfrm>
            <a:off x="4251960" y="17099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Répondu</a:t>
            </a:r>
            <a:endParaRPr lang="en-US" sz="1100" dirty="0"/>
          </a:p>
        </p:txBody>
      </p:sp>
      <p:sp>
        <p:nvSpPr>
          <p:cNvPr id="9" name="carte_21"/>
          <p:cNvSpPr/>
          <p:nvPr/>
        </p:nvSpPr>
        <p:spPr>
          <a:xfrm>
            <a:off x="548640" y="2423160"/>
            <a:ext cx="53949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xt_22"/>
          <p:cNvSpPr txBox="1"/>
          <p:nvPr/>
        </p:nvSpPr>
        <p:spPr>
          <a:xfrm>
            <a:off x="822960" y="24231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chiffre d'affaires</a:t>
            </a:r>
            <a:endParaRPr lang="en-US" sz="1700" dirty="0"/>
          </a:p>
        </p:txBody>
      </p:sp>
      <p:sp>
        <p:nvSpPr>
          <p:cNvPr id="11" name="pastille_23"/>
          <p:cNvSpPr/>
          <p:nvPr/>
        </p:nvSpPr>
        <p:spPr>
          <a:xfrm>
            <a:off x="4251960" y="2670048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xt_24"/>
          <p:cNvSpPr txBox="1"/>
          <p:nvPr/>
        </p:nvSpPr>
        <p:spPr>
          <a:xfrm>
            <a:off x="4251960" y="2670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Répondu</a:t>
            </a:r>
            <a:endParaRPr lang="en-US" sz="1100" dirty="0"/>
          </a:p>
        </p:txBody>
      </p:sp>
      <p:sp>
        <p:nvSpPr>
          <p:cNvPr id="13" name="carte_25"/>
          <p:cNvSpPr/>
          <p:nvPr/>
        </p:nvSpPr>
        <p:spPr>
          <a:xfrm>
            <a:off x="548640" y="3383280"/>
            <a:ext cx="53949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xt_26"/>
          <p:cNvSpPr txBox="1"/>
          <p:nvPr/>
        </p:nvSpPr>
        <p:spPr>
          <a:xfrm>
            <a:off x="822960" y="33832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taux de réussite</a:t>
            </a:r>
            <a:endParaRPr lang="en-US" sz="1700" dirty="0"/>
          </a:p>
        </p:txBody>
      </p:sp>
      <p:sp>
        <p:nvSpPr>
          <p:cNvPr id="15" name="pastille_27"/>
          <p:cNvSpPr/>
          <p:nvPr/>
        </p:nvSpPr>
        <p:spPr>
          <a:xfrm>
            <a:off x="4251960" y="3630168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xt_28"/>
          <p:cNvSpPr txBox="1"/>
          <p:nvPr/>
        </p:nvSpPr>
        <p:spPr>
          <a:xfrm>
            <a:off x="4251960" y="3630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Répondu</a:t>
            </a:r>
            <a:endParaRPr lang="en-US" sz="1100" dirty="0"/>
          </a:p>
        </p:txBody>
      </p:sp>
      <p:sp>
        <p:nvSpPr>
          <p:cNvPr id="17" name="carte_29"/>
          <p:cNvSpPr/>
          <p:nvPr/>
        </p:nvSpPr>
        <p:spPr>
          <a:xfrm>
            <a:off x="548640" y="4343400"/>
            <a:ext cx="53949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xt_30"/>
          <p:cNvSpPr txBox="1"/>
          <p:nvPr/>
        </p:nvSpPr>
        <p:spPr>
          <a:xfrm>
            <a:off x="822960" y="43434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Les formations les plus suivies</a:t>
            </a:r>
            <a:endParaRPr lang="en-US" sz="1700" dirty="0"/>
          </a:p>
        </p:txBody>
      </p:sp>
      <p:sp>
        <p:nvSpPr>
          <p:cNvPr id="19" name="pastille_31"/>
          <p:cNvSpPr/>
          <p:nvPr/>
        </p:nvSpPr>
        <p:spPr>
          <a:xfrm>
            <a:off x="4251960" y="4590288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xt_32"/>
          <p:cNvSpPr txBox="1"/>
          <p:nvPr/>
        </p:nvSpPr>
        <p:spPr>
          <a:xfrm>
            <a:off x="4251960" y="45902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Répondu</a:t>
            </a:r>
            <a:endParaRPr lang="en-US" sz="1100" dirty="0"/>
          </a:p>
        </p:txBody>
      </p:sp>
      <p:sp>
        <p:nvSpPr>
          <p:cNvPr id="21" name="carte_33"/>
          <p:cNvSpPr/>
          <p:nvPr/>
        </p:nvSpPr>
        <p:spPr>
          <a:xfrm>
            <a:off x="6172200" y="1463040"/>
            <a:ext cx="53949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xt_34"/>
          <p:cNvSpPr txBox="1"/>
          <p:nvPr/>
        </p:nvSpPr>
        <p:spPr>
          <a:xfrm>
            <a:off x="6446520" y="1463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temps moyen de connexion</a:t>
            </a:r>
            <a:endParaRPr lang="en-US" sz="1700" dirty="0"/>
          </a:p>
        </p:txBody>
      </p:sp>
      <p:sp>
        <p:nvSpPr>
          <p:cNvPr id="23" name="pastille_35"/>
          <p:cNvSpPr/>
          <p:nvPr/>
        </p:nvSpPr>
        <p:spPr>
          <a:xfrm>
            <a:off x="9875520" y="1709928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xt_36"/>
          <p:cNvSpPr txBox="1"/>
          <p:nvPr/>
        </p:nvSpPr>
        <p:spPr>
          <a:xfrm>
            <a:off x="9875520" y="17099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Répondu</a:t>
            </a:r>
            <a:endParaRPr lang="en-US" sz="1100" dirty="0"/>
          </a:p>
        </p:txBody>
      </p:sp>
      <p:sp>
        <p:nvSpPr>
          <p:cNvPr id="25" name="carte_37"/>
          <p:cNvSpPr/>
          <p:nvPr/>
        </p:nvSpPr>
        <p:spPr>
          <a:xfrm>
            <a:off x="6172200" y="2423160"/>
            <a:ext cx="53949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xt_38"/>
          <p:cNvSpPr txBox="1"/>
          <p:nvPr/>
        </p:nvSpPr>
        <p:spPr>
          <a:xfrm>
            <a:off x="6446520" y="24231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 satisfaction des étudiants</a:t>
            </a:r>
            <a:endParaRPr lang="en-US" sz="1700" dirty="0"/>
          </a:p>
        </p:txBody>
      </p:sp>
      <p:sp>
        <p:nvSpPr>
          <p:cNvPr id="27" name="pastille_39"/>
          <p:cNvSpPr/>
          <p:nvPr/>
        </p:nvSpPr>
        <p:spPr>
          <a:xfrm>
            <a:off x="9875520" y="2670048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txt_40"/>
          <p:cNvSpPr txBox="1"/>
          <p:nvPr/>
        </p:nvSpPr>
        <p:spPr>
          <a:xfrm>
            <a:off x="9875520" y="2670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Aucune donnée</a:t>
            </a:r>
            <a:endParaRPr lang="en-US" sz="1100" dirty="0"/>
          </a:p>
        </p:txBody>
      </p:sp>
      <p:sp>
        <p:nvSpPr>
          <p:cNvPr id="29" name="carte_41"/>
          <p:cNvSpPr/>
          <p:nvPr/>
        </p:nvSpPr>
        <p:spPr>
          <a:xfrm>
            <a:off x="6172200" y="3383280"/>
            <a:ext cx="53949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xt_42"/>
          <p:cNvSpPr txBox="1"/>
          <p:nvPr/>
        </p:nvSpPr>
        <p:spPr>
          <a:xfrm>
            <a:off x="6446520" y="33832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Les enseignants les mieux évalués</a:t>
            </a:r>
            <a:endParaRPr lang="en-US" sz="1700" dirty="0"/>
          </a:p>
        </p:txBody>
      </p:sp>
      <p:sp>
        <p:nvSpPr>
          <p:cNvPr id="31" name="pastille_43"/>
          <p:cNvSpPr/>
          <p:nvPr/>
        </p:nvSpPr>
        <p:spPr>
          <a:xfrm>
            <a:off x="9875520" y="3630168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txt_44"/>
          <p:cNvSpPr txBox="1"/>
          <p:nvPr/>
        </p:nvSpPr>
        <p:spPr>
          <a:xfrm>
            <a:off x="9875520" y="3630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Aucune donnée</a:t>
            </a:r>
            <a:endParaRPr lang="en-US" sz="1100" dirty="0"/>
          </a:p>
        </p:txBody>
      </p:sp>
      <p:sp>
        <p:nvSpPr>
          <p:cNvPr id="33" name="txt_45"/>
          <p:cNvSpPr txBox="1"/>
          <p:nvPr/>
        </p:nvSpPr>
        <p:spPr>
          <a:xfrm>
            <a:off x="6172200" y="44348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5 sur 7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ont une réponse. Les 2 autres sont des manques de données : ils deviennent des recommandations.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Cinq sources hétérogènes, volontairement imparfaites</a:t>
            </a:r>
            <a:endParaRPr lang="en-US" sz="3200" dirty="0"/>
          </a:p>
        </p:txBody>
      </p:sp>
      <p:sp>
        <p:nvSpPr>
          <p:cNvPr id="3" name="badge_46"/>
          <p:cNvSpPr/>
          <p:nvPr/>
        </p:nvSpPr>
        <p:spPr>
          <a:xfrm>
            <a:off x="548640" y="42976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badge_num_47"/>
          <p:cNvSpPr txBox="1"/>
          <p:nvPr/>
        </p:nvSpPr>
        <p:spPr>
          <a:xfrm>
            <a:off x="548640" y="429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carte_48"/>
          <p:cNvSpPr/>
          <p:nvPr/>
        </p:nvSpPr>
        <p:spPr>
          <a:xfrm>
            <a:off x="548640" y="1417320"/>
            <a:ext cx="2057400" cy="420624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xt_49"/>
          <p:cNvSpPr txBox="1"/>
          <p:nvPr/>
        </p:nvSpPr>
        <p:spPr>
          <a:xfrm>
            <a:off x="73152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2200" dirty="0"/>
          </a:p>
        </p:txBody>
      </p:sp>
      <p:sp>
        <p:nvSpPr>
          <p:cNvPr id="7" name="txt_50"/>
          <p:cNvSpPr txBox="1"/>
          <p:nvPr/>
        </p:nvSpPr>
        <p:spPr>
          <a:xfrm>
            <a:off x="73152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Gestion académique</a:t>
            </a:r>
            <a:endParaRPr lang="en-US" sz="1400" dirty="0"/>
          </a:p>
        </p:txBody>
      </p:sp>
      <p:sp>
        <p:nvSpPr>
          <p:cNvPr id="8" name="txt_51"/>
          <p:cNvSpPr txBox="1"/>
          <p:nvPr/>
        </p:nvSpPr>
        <p:spPr>
          <a:xfrm>
            <a:off x="731520" y="2788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67 882</a:t>
            </a:r>
            <a:endParaRPr lang="en-US" sz="2800" dirty="0"/>
          </a:p>
        </p:txBody>
      </p:sp>
      <p:sp>
        <p:nvSpPr>
          <p:cNvPr id="9" name="txt_52"/>
          <p:cNvSpPr txBox="1"/>
          <p:nvPr/>
        </p:nvSpPr>
        <p:spPr>
          <a:xfrm>
            <a:off x="731520" y="3337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lignes, 5 tables</a:t>
            </a:r>
            <a:endParaRPr lang="en-US" sz="1300" dirty="0"/>
          </a:p>
        </p:txBody>
      </p:sp>
      <p:sp>
        <p:nvSpPr>
          <p:cNvPr id="10" name="txt_53"/>
          <p:cNvSpPr txBox="1"/>
          <p:nvPr/>
        </p:nvSpPr>
        <p:spPr>
          <a:xfrm>
            <a:off x="731520" y="4069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800" dirty="0"/>
          </a:p>
        </p:txBody>
      </p:sp>
      <p:sp>
        <p:nvSpPr>
          <p:cNvPr id="11" name="txt_54"/>
          <p:cNvSpPr txBox="1"/>
          <p:nvPr/>
        </p:nvSpPr>
        <p:spPr>
          <a:xfrm>
            <a:off x="731520" y="4617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types d'anomalies</a:t>
            </a:r>
            <a:endParaRPr lang="en-US" sz="1300" dirty="0"/>
          </a:p>
        </p:txBody>
      </p:sp>
      <p:sp>
        <p:nvSpPr>
          <p:cNvPr id="12" name="carte_55"/>
          <p:cNvSpPr/>
          <p:nvPr/>
        </p:nvSpPr>
        <p:spPr>
          <a:xfrm>
            <a:off x="2788920" y="1417320"/>
            <a:ext cx="2057400" cy="420624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xt_56"/>
          <p:cNvSpPr txBox="1"/>
          <p:nvPr/>
        </p:nvSpPr>
        <p:spPr>
          <a:xfrm>
            <a:off x="297180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2200" dirty="0"/>
          </a:p>
        </p:txBody>
      </p:sp>
      <p:sp>
        <p:nvSpPr>
          <p:cNvPr id="14" name="txt_57"/>
          <p:cNvSpPr txBox="1"/>
          <p:nvPr/>
        </p:nvSpPr>
        <p:spPr>
          <a:xfrm>
            <a:off x="297180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Plateforme pédagogique</a:t>
            </a:r>
            <a:endParaRPr lang="en-US" sz="1400" dirty="0"/>
          </a:p>
        </p:txBody>
      </p:sp>
      <p:sp>
        <p:nvSpPr>
          <p:cNvPr id="15" name="txt_58"/>
          <p:cNvSpPr txBox="1"/>
          <p:nvPr/>
        </p:nvSpPr>
        <p:spPr>
          <a:xfrm>
            <a:off x="2971800" y="2788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422 218</a:t>
            </a:r>
            <a:endParaRPr lang="en-US" sz="2800" dirty="0"/>
          </a:p>
        </p:txBody>
      </p:sp>
      <p:sp>
        <p:nvSpPr>
          <p:cNvPr id="16" name="txt_59"/>
          <p:cNvSpPr txBox="1"/>
          <p:nvPr/>
        </p:nvSpPr>
        <p:spPr>
          <a:xfrm>
            <a:off x="2971800" y="3337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lignes, 6 tables</a:t>
            </a:r>
            <a:endParaRPr lang="en-US" sz="1300" dirty="0"/>
          </a:p>
        </p:txBody>
      </p:sp>
      <p:sp>
        <p:nvSpPr>
          <p:cNvPr id="17" name="txt_60"/>
          <p:cNvSpPr txBox="1"/>
          <p:nvPr/>
        </p:nvSpPr>
        <p:spPr>
          <a:xfrm>
            <a:off x="2971800" y="4069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800" dirty="0"/>
          </a:p>
        </p:txBody>
      </p:sp>
      <p:sp>
        <p:nvSpPr>
          <p:cNvPr id="18" name="txt_61"/>
          <p:cNvSpPr txBox="1"/>
          <p:nvPr/>
        </p:nvSpPr>
        <p:spPr>
          <a:xfrm>
            <a:off x="2971800" y="4617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types d'anomalies</a:t>
            </a:r>
            <a:endParaRPr lang="en-US" sz="1300" dirty="0"/>
          </a:p>
        </p:txBody>
      </p:sp>
      <p:sp>
        <p:nvSpPr>
          <p:cNvPr id="19" name="carte_62"/>
          <p:cNvSpPr/>
          <p:nvPr/>
        </p:nvSpPr>
        <p:spPr>
          <a:xfrm>
            <a:off x="5029200" y="1417320"/>
            <a:ext cx="2057400" cy="420624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xt_63"/>
          <p:cNvSpPr txBox="1"/>
          <p:nvPr/>
        </p:nvSpPr>
        <p:spPr>
          <a:xfrm>
            <a:off x="521208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</a:t>
            </a:r>
            <a:endParaRPr lang="en-US" sz="2200" dirty="0"/>
          </a:p>
        </p:txBody>
      </p:sp>
      <p:sp>
        <p:nvSpPr>
          <p:cNvPr id="21" name="txt_64"/>
          <p:cNvSpPr txBox="1"/>
          <p:nvPr/>
        </p:nvSpPr>
        <p:spPr>
          <a:xfrm>
            <a:off x="521208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Ressources humaines</a:t>
            </a:r>
            <a:endParaRPr lang="en-US" sz="1400" dirty="0"/>
          </a:p>
        </p:txBody>
      </p:sp>
      <p:sp>
        <p:nvSpPr>
          <p:cNvPr id="22" name="txt_65"/>
          <p:cNvSpPr txBox="1"/>
          <p:nvPr/>
        </p:nvSpPr>
        <p:spPr>
          <a:xfrm>
            <a:off x="5212080" y="2788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6 728</a:t>
            </a:r>
            <a:endParaRPr lang="en-US" sz="2800" dirty="0"/>
          </a:p>
        </p:txBody>
      </p:sp>
      <p:sp>
        <p:nvSpPr>
          <p:cNvPr id="23" name="txt_66"/>
          <p:cNvSpPr txBox="1"/>
          <p:nvPr/>
        </p:nvSpPr>
        <p:spPr>
          <a:xfrm>
            <a:off x="5212080" y="3337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lignes, 4 fichiers</a:t>
            </a:r>
            <a:endParaRPr lang="en-US" sz="1300" dirty="0"/>
          </a:p>
        </p:txBody>
      </p:sp>
      <p:sp>
        <p:nvSpPr>
          <p:cNvPr id="24" name="txt_67"/>
          <p:cNvSpPr txBox="1"/>
          <p:nvPr/>
        </p:nvSpPr>
        <p:spPr>
          <a:xfrm>
            <a:off x="5212080" y="4069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800" dirty="0"/>
          </a:p>
        </p:txBody>
      </p:sp>
      <p:sp>
        <p:nvSpPr>
          <p:cNvPr id="25" name="txt_68"/>
          <p:cNvSpPr txBox="1"/>
          <p:nvPr/>
        </p:nvSpPr>
        <p:spPr>
          <a:xfrm>
            <a:off x="5212080" y="4617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types d'anomalies</a:t>
            </a:r>
            <a:endParaRPr lang="en-US" sz="1300" dirty="0"/>
          </a:p>
        </p:txBody>
      </p:sp>
      <p:sp>
        <p:nvSpPr>
          <p:cNvPr id="26" name="carte_69"/>
          <p:cNvSpPr/>
          <p:nvPr/>
        </p:nvSpPr>
        <p:spPr>
          <a:xfrm>
            <a:off x="7269480" y="1417320"/>
            <a:ext cx="2057400" cy="420624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xt_70"/>
          <p:cNvSpPr txBox="1"/>
          <p:nvPr/>
        </p:nvSpPr>
        <p:spPr>
          <a:xfrm>
            <a:off x="745236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2200" dirty="0"/>
          </a:p>
        </p:txBody>
      </p:sp>
      <p:sp>
        <p:nvSpPr>
          <p:cNvPr id="28" name="txt_71"/>
          <p:cNvSpPr txBox="1"/>
          <p:nvPr/>
        </p:nvSpPr>
        <p:spPr>
          <a:xfrm>
            <a:off x="745236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Application mobile</a:t>
            </a:r>
            <a:endParaRPr lang="en-US" sz="1400" dirty="0"/>
          </a:p>
        </p:txBody>
      </p:sp>
      <p:sp>
        <p:nvSpPr>
          <p:cNvPr id="29" name="txt_72"/>
          <p:cNvSpPr txBox="1"/>
          <p:nvPr/>
        </p:nvSpPr>
        <p:spPr>
          <a:xfrm>
            <a:off x="7452360" y="2788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297 601</a:t>
            </a:r>
            <a:endParaRPr lang="en-US" sz="2800" dirty="0"/>
          </a:p>
        </p:txBody>
      </p:sp>
      <p:sp>
        <p:nvSpPr>
          <p:cNvPr id="30" name="txt_73"/>
          <p:cNvSpPr txBox="1"/>
          <p:nvPr/>
        </p:nvSpPr>
        <p:spPr>
          <a:xfrm>
            <a:off x="7452360" y="3337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documents JSON</a:t>
            </a:r>
            <a:endParaRPr lang="en-US" sz="1300" dirty="0"/>
          </a:p>
        </p:txBody>
      </p:sp>
      <p:sp>
        <p:nvSpPr>
          <p:cNvPr id="31" name="txt_74"/>
          <p:cNvSpPr txBox="1"/>
          <p:nvPr/>
        </p:nvSpPr>
        <p:spPr>
          <a:xfrm>
            <a:off x="7452360" y="4069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800" dirty="0"/>
          </a:p>
        </p:txBody>
      </p:sp>
      <p:sp>
        <p:nvSpPr>
          <p:cNvPr id="32" name="txt_75"/>
          <p:cNvSpPr txBox="1"/>
          <p:nvPr/>
        </p:nvSpPr>
        <p:spPr>
          <a:xfrm>
            <a:off x="7452360" y="4617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types d'anomalies</a:t>
            </a:r>
            <a:endParaRPr lang="en-US" sz="1300" dirty="0"/>
          </a:p>
        </p:txBody>
      </p:sp>
      <p:sp>
        <p:nvSpPr>
          <p:cNvPr id="33" name="carte_76"/>
          <p:cNvSpPr/>
          <p:nvPr/>
        </p:nvSpPr>
        <p:spPr>
          <a:xfrm>
            <a:off x="9509760" y="1417320"/>
            <a:ext cx="2057400" cy="420624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xt_77"/>
          <p:cNvSpPr txBox="1"/>
          <p:nvPr/>
        </p:nvSpPr>
        <p:spPr>
          <a:xfrm>
            <a:off x="969264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</a:t>
            </a:r>
            <a:endParaRPr lang="en-US" sz="2200" dirty="0"/>
          </a:p>
        </p:txBody>
      </p:sp>
      <p:sp>
        <p:nvSpPr>
          <p:cNvPr id="35" name="txt_78"/>
          <p:cNvSpPr txBox="1"/>
          <p:nvPr/>
        </p:nvSpPr>
        <p:spPr>
          <a:xfrm>
            <a:off x="969264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Temps réel</a:t>
            </a:r>
            <a:endParaRPr lang="en-US" sz="1400" dirty="0"/>
          </a:p>
        </p:txBody>
      </p:sp>
      <p:sp>
        <p:nvSpPr>
          <p:cNvPr id="36" name="txt_79"/>
          <p:cNvSpPr txBox="1"/>
          <p:nvPr/>
        </p:nvSpPr>
        <p:spPr>
          <a:xfrm>
            <a:off x="9692640" y="2788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4 608</a:t>
            </a:r>
            <a:endParaRPr lang="en-US" sz="2800" dirty="0"/>
          </a:p>
        </p:txBody>
      </p:sp>
      <p:sp>
        <p:nvSpPr>
          <p:cNvPr id="37" name="txt_80"/>
          <p:cNvSpPr txBox="1"/>
          <p:nvPr/>
        </p:nvSpPr>
        <p:spPr>
          <a:xfrm>
            <a:off x="9692640" y="3337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clés (snapshot)</a:t>
            </a:r>
            <a:endParaRPr lang="en-US" sz="1300" dirty="0"/>
          </a:p>
        </p:txBody>
      </p:sp>
      <p:sp>
        <p:nvSpPr>
          <p:cNvPr id="38" name="txt_81"/>
          <p:cNvSpPr txBox="1"/>
          <p:nvPr/>
        </p:nvSpPr>
        <p:spPr>
          <a:xfrm>
            <a:off x="9692640" y="4069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39" name="txt_82"/>
          <p:cNvSpPr txBox="1"/>
          <p:nvPr/>
        </p:nvSpPr>
        <p:spPr>
          <a:xfrm>
            <a:off x="9692640" y="4617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types d'anomalies</a:t>
            </a:r>
            <a:endParaRPr lang="en-US" sz="1300" dirty="0"/>
          </a:p>
        </p:txBody>
      </p:sp>
      <p:sp>
        <p:nvSpPr>
          <p:cNvPr id="40" name="txt_8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≈ 800 000 enregistrements · 69 types d'anomalies : doublons, formats de dates, encodages mélangés, catégories mal orthographiées, orphelins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Intégrer, c'est d'abord savoir qui est qui</a:t>
            </a:r>
            <a:endParaRPr lang="en-US" sz="3200" dirty="0"/>
          </a:p>
        </p:txBody>
      </p:sp>
      <p:sp>
        <p:nvSpPr>
          <p:cNvPr id="3" name="badge_84"/>
          <p:cNvSpPr/>
          <p:nvPr/>
        </p:nvSpPr>
        <p:spPr>
          <a:xfrm>
            <a:off x="548640" y="42976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badge_num_85"/>
          <p:cNvSpPr txBox="1"/>
          <p:nvPr/>
        </p:nvSpPr>
        <p:spPr>
          <a:xfrm>
            <a:off x="548640" y="429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carte_86"/>
          <p:cNvSpPr/>
          <p:nvPr/>
        </p:nvSpPr>
        <p:spPr>
          <a:xfrm>
            <a:off x="548640" y="1417320"/>
            <a:ext cx="4754880" cy="4206240"/>
          </a:xfrm>
          <a:prstGeom prst="roundRect">
            <a:avLst>
              <a:gd name="adj" fmla="val 173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xt_87"/>
          <p:cNvSpPr txBox="1"/>
          <p:nvPr/>
        </p:nvSpPr>
        <p:spPr>
          <a:xfrm>
            <a:off x="914400" y="17830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strike="sngStrike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26 476</a:t>
            </a:r>
            <a:endParaRPr lang="en-US" sz="5400" dirty="0"/>
          </a:p>
        </p:txBody>
      </p:sp>
      <p:sp>
        <p:nvSpPr>
          <p:cNvPr id="7" name="txt_88"/>
          <p:cNvSpPr txBox="1"/>
          <p:nvPr/>
        </p:nvSpPr>
        <p:spPr>
          <a:xfrm>
            <a:off x="91440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personnes, si l'on additionne les sources</a:t>
            </a:r>
            <a:endParaRPr lang="en-US" sz="1400" dirty="0"/>
          </a:p>
        </p:txBody>
      </p:sp>
      <p:sp>
        <p:nvSpPr>
          <p:cNvPr id="8" name="txt_89"/>
          <p:cNvSpPr txBox="1"/>
          <p:nvPr/>
        </p:nvSpPr>
        <p:spPr>
          <a:xfrm>
            <a:off x="914400" y="32918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10 500</a:t>
            </a:r>
            <a:endParaRPr lang="en-US" sz="5400" dirty="0"/>
          </a:p>
        </p:txBody>
      </p:sp>
      <p:sp>
        <p:nvSpPr>
          <p:cNvPr id="9" name="txt_90"/>
          <p:cNvSpPr txBox="1"/>
          <p:nvPr/>
        </p:nvSpPr>
        <p:spPr>
          <a:xfrm>
            <a:off x="91440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personnes réelles, après rapprochement</a:t>
            </a:r>
            <a:endParaRPr lang="en-US" sz="1400" dirty="0"/>
          </a:p>
        </p:txBody>
      </p:sp>
      <p:sp>
        <p:nvSpPr>
          <p:cNvPr id="10" name="txt_91"/>
          <p:cNvSpPr txBox="1"/>
          <p:nvPr/>
        </p:nvSpPr>
        <p:spPr>
          <a:xfrm>
            <a:off x="5760720" y="14173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Identifiants incompatibles</a:t>
            </a:r>
            <a:endParaRPr lang="en-US" sz="1900" dirty="0"/>
          </a:p>
        </p:txBody>
      </p:sp>
      <p:sp>
        <p:nvSpPr>
          <p:cNvPr id="11" name="txt_92"/>
          <p:cNvSpPr txBox="1"/>
          <p:nvPr/>
        </p:nvSpPr>
        <p:spPr>
          <a:xfrm>
            <a:off x="5760720" y="1856232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UUID dans PostgreSQL, LMS-XXXXXX dans MySQL : 9 000 paires rapprochées, 1 000 inscrits sans compte LMS, 500 comptes sans inscription</a:t>
            </a:r>
            <a:endParaRPr lang="en-US" sz="1500" dirty="0"/>
          </a:p>
        </p:txBody>
      </p:sp>
      <p:sp>
        <p:nvSpPr>
          <p:cNvPr id="12" name="txt_93"/>
          <p:cNvSpPr txBox="1"/>
          <p:nvPr/>
        </p:nvSpPr>
        <p:spPr>
          <a:xfrm>
            <a:off x="5760720" y="28346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Formats et encodages</a:t>
            </a:r>
            <a:endParaRPr lang="en-US" sz="1900" dirty="0"/>
          </a:p>
        </p:txBody>
      </p:sp>
      <p:sp>
        <p:nvSpPr>
          <p:cNvPr id="13" name="txt_94"/>
          <p:cNvSpPr txBox="1"/>
          <p:nvPr/>
        </p:nvSpPr>
        <p:spPr>
          <a:xfrm>
            <a:off x="5760720" y="3273552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3 formats de dates, UTF-8 et ISO-8859-1, séparateurs « ; » et « , », champs MongoDB variables</a:t>
            </a:r>
            <a:endParaRPr lang="en-US" sz="1500" dirty="0"/>
          </a:p>
        </p:txBody>
      </p:sp>
      <p:sp>
        <p:nvSpPr>
          <p:cNvPr id="14" name="txt_95"/>
          <p:cNvSpPr txBox="1"/>
          <p:nvPr/>
        </p:nvSpPr>
        <p:spPr>
          <a:xfrm>
            <a:off x="5760720" y="42519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source qui s'efface</a:t>
            </a:r>
            <a:endParaRPr lang="en-US" sz="1900" dirty="0"/>
          </a:p>
        </p:txBody>
      </p:sp>
      <p:sp>
        <p:nvSpPr>
          <p:cNvPr id="15" name="txt_96"/>
          <p:cNvSpPr txBox="1"/>
          <p:nvPr/>
        </p:nvSpPr>
        <p:spPr>
          <a:xfrm>
            <a:off x="5760720" y="4690872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Redis est volatile : statistics:today expire en 1 h, il faut figer le snapshot à l'extraction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ELT : transformer dans l'entrepôt</a:t>
            </a:r>
            <a:endParaRPr lang="en-US" sz="3200" dirty="0"/>
          </a:p>
        </p:txBody>
      </p:sp>
      <p:sp>
        <p:nvSpPr>
          <p:cNvPr id="3" name="badge_97"/>
          <p:cNvSpPr/>
          <p:nvPr/>
        </p:nvSpPr>
        <p:spPr>
          <a:xfrm>
            <a:off x="548640" y="42976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badge_num_98"/>
          <p:cNvSpPr txBox="1"/>
          <p:nvPr/>
        </p:nvSpPr>
        <p:spPr>
          <a:xfrm>
            <a:off x="548640" y="429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carte_99"/>
          <p:cNvSpPr/>
          <p:nvPr/>
        </p:nvSpPr>
        <p:spPr>
          <a:xfrm>
            <a:off x="548640" y="1463040"/>
            <a:ext cx="182880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xt_100"/>
          <p:cNvSpPr txBox="1"/>
          <p:nvPr/>
        </p:nvSpPr>
        <p:spPr>
          <a:xfrm>
            <a:off x="548640" y="1463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PostgreSQL</a:t>
            </a:r>
            <a:endParaRPr lang="en-US" sz="1500" dirty="0"/>
          </a:p>
        </p:txBody>
      </p:sp>
      <p:sp>
        <p:nvSpPr>
          <p:cNvPr id="7" name="carte_101"/>
          <p:cNvSpPr/>
          <p:nvPr/>
        </p:nvSpPr>
        <p:spPr>
          <a:xfrm>
            <a:off x="548640" y="2240280"/>
            <a:ext cx="182880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xt_102"/>
          <p:cNvSpPr txBox="1"/>
          <p:nvPr/>
        </p:nvSpPr>
        <p:spPr>
          <a:xfrm>
            <a:off x="548640" y="2240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MySQL</a:t>
            </a:r>
            <a:endParaRPr lang="en-US" sz="1500" dirty="0"/>
          </a:p>
        </p:txBody>
      </p:sp>
      <p:sp>
        <p:nvSpPr>
          <p:cNvPr id="9" name="carte_103"/>
          <p:cNvSpPr/>
          <p:nvPr/>
        </p:nvSpPr>
        <p:spPr>
          <a:xfrm>
            <a:off x="548640" y="3017520"/>
            <a:ext cx="182880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xt_104"/>
          <p:cNvSpPr txBox="1"/>
          <p:nvPr/>
        </p:nvSpPr>
        <p:spPr>
          <a:xfrm>
            <a:off x="548640" y="30175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CSV RH</a:t>
            </a:r>
            <a:endParaRPr lang="en-US" sz="1500" dirty="0"/>
          </a:p>
        </p:txBody>
      </p:sp>
      <p:sp>
        <p:nvSpPr>
          <p:cNvPr id="11" name="carte_105"/>
          <p:cNvSpPr/>
          <p:nvPr/>
        </p:nvSpPr>
        <p:spPr>
          <a:xfrm>
            <a:off x="548640" y="3794760"/>
            <a:ext cx="182880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xt_106"/>
          <p:cNvSpPr txBox="1"/>
          <p:nvPr/>
        </p:nvSpPr>
        <p:spPr>
          <a:xfrm>
            <a:off x="548640" y="3794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MongoDB</a:t>
            </a:r>
            <a:endParaRPr lang="en-US" sz="1500" dirty="0"/>
          </a:p>
        </p:txBody>
      </p:sp>
      <p:sp>
        <p:nvSpPr>
          <p:cNvPr id="13" name="carte_107"/>
          <p:cNvSpPr/>
          <p:nvPr/>
        </p:nvSpPr>
        <p:spPr>
          <a:xfrm>
            <a:off x="548640" y="4572000"/>
            <a:ext cx="182880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xt_108"/>
          <p:cNvSpPr txBox="1"/>
          <p:nvPr/>
        </p:nvSpPr>
        <p:spPr>
          <a:xfrm>
            <a:off x="548640" y="4572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Redis</a:t>
            </a:r>
            <a:endParaRPr lang="en-US" sz="1500" dirty="0"/>
          </a:p>
        </p:txBody>
      </p:sp>
      <p:sp>
        <p:nvSpPr>
          <p:cNvPr id="15" name="fleche_extract"/>
          <p:cNvSpPr/>
          <p:nvPr/>
        </p:nvSpPr>
        <p:spPr>
          <a:xfrm>
            <a:off x="2514600" y="3246120"/>
            <a:ext cx="6400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couche_109"/>
          <p:cNvSpPr/>
          <p:nvPr/>
        </p:nvSpPr>
        <p:spPr>
          <a:xfrm>
            <a:off x="3154680" y="1463040"/>
            <a:ext cx="2194560" cy="2377440"/>
          </a:xfrm>
          <a:prstGeom prst="roundRect">
            <a:avLst>
              <a:gd name="adj" fmla="val 3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xt_110"/>
          <p:cNvSpPr txBox="1"/>
          <p:nvPr/>
        </p:nvSpPr>
        <p:spPr>
          <a:xfrm>
            <a:off x="333756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2200" dirty="0"/>
          </a:p>
        </p:txBody>
      </p:sp>
      <p:sp>
        <p:nvSpPr>
          <p:cNvPr id="18" name="txt_111"/>
          <p:cNvSpPr txBox="1"/>
          <p:nvPr/>
        </p:nvSpPr>
        <p:spPr>
          <a:xfrm>
            <a:off x="333756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staging</a:t>
            </a:r>
            <a:endParaRPr lang="en-US" sz="1400" dirty="0"/>
          </a:p>
        </p:txBody>
      </p:sp>
      <p:sp>
        <p:nvSpPr>
          <p:cNvPr id="19" name="txt_112"/>
          <p:cNvSpPr txBox="1"/>
          <p:nvPr/>
        </p:nvSpPr>
        <p:spPr>
          <a:xfrm>
            <a:off x="3337560" y="25603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copie brute des 17 objets, en TEXT et JSONB</a:t>
            </a:r>
            <a:endParaRPr lang="en-US" sz="1400" dirty="0"/>
          </a:p>
        </p:txBody>
      </p:sp>
      <p:sp>
        <p:nvSpPr>
          <p:cNvPr id="20" name="fleche_113"/>
          <p:cNvSpPr/>
          <p:nvPr/>
        </p:nvSpPr>
        <p:spPr>
          <a:xfrm>
            <a:off x="5349240" y="2651760"/>
            <a:ext cx="2286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couche_114"/>
          <p:cNvSpPr/>
          <p:nvPr/>
        </p:nvSpPr>
        <p:spPr>
          <a:xfrm>
            <a:off x="5577840" y="1463040"/>
            <a:ext cx="2194560" cy="237744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xt_115"/>
          <p:cNvSpPr txBox="1"/>
          <p:nvPr/>
        </p:nvSpPr>
        <p:spPr>
          <a:xfrm>
            <a:off x="576072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Argent</a:t>
            </a:r>
            <a:endParaRPr lang="en-US" sz="2200" dirty="0"/>
          </a:p>
        </p:txBody>
      </p:sp>
      <p:sp>
        <p:nvSpPr>
          <p:cNvPr id="23" name="txt_116"/>
          <p:cNvSpPr txBox="1"/>
          <p:nvPr/>
        </p:nvSpPr>
        <p:spPr>
          <a:xfrm>
            <a:off x="576072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clean</a:t>
            </a:r>
            <a:endParaRPr lang="en-US" sz="1400" dirty="0"/>
          </a:p>
        </p:txBody>
      </p:sp>
      <p:sp>
        <p:nvSpPr>
          <p:cNvPr id="24" name="txt_117"/>
          <p:cNvSpPr txBox="1"/>
          <p:nvPr/>
        </p:nvSpPr>
        <p:spPr>
          <a:xfrm>
            <a:off x="5760720" y="25603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89 règles qualité : corriger, rejeter, signaler</a:t>
            </a:r>
            <a:endParaRPr lang="en-US" sz="1400" dirty="0"/>
          </a:p>
        </p:txBody>
      </p:sp>
      <p:sp>
        <p:nvSpPr>
          <p:cNvPr id="25" name="fleche_118"/>
          <p:cNvSpPr/>
          <p:nvPr/>
        </p:nvSpPr>
        <p:spPr>
          <a:xfrm>
            <a:off x="7772400" y="2651760"/>
            <a:ext cx="2286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couche_119"/>
          <p:cNvSpPr/>
          <p:nvPr/>
        </p:nvSpPr>
        <p:spPr>
          <a:xfrm>
            <a:off x="8001000" y="1463040"/>
            <a:ext cx="2194560" cy="2377440"/>
          </a:xfrm>
          <a:prstGeom prst="roundRect">
            <a:avLst>
              <a:gd name="adj" fmla="val 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xt_120"/>
          <p:cNvSpPr txBox="1"/>
          <p:nvPr/>
        </p:nvSpPr>
        <p:spPr>
          <a:xfrm>
            <a:off x="818388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</a:t>
            </a:r>
            <a:endParaRPr lang="en-US" sz="2200" dirty="0"/>
          </a:p>
        </p:txBody>
      </p:sp>
      <p:sp>
        <p:nvSpPr>
          <p:cNvPr id="28" name="txt_121"/>
          <p:cNvSpPr txBox="1"/>
          <p:nvPr/>
        </p:nvSpPr>
        <p:spPr>
          <a:xfrm>
            <a:off x="818388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dw</a:t>
            </a:r>
            <a:endParaRPr lang="en-US" sz="1400" dirty="0"/>
          </a:p>
        </p:txBody>
      </p:sp>
      <p:sp>
        <p:nvSpPr>
          <p:cNvPr id="29" name="txt_122"/>
          <p:cNvSpPr txBox="1"/>
          <p:nvPr/>
        </p:nvSpPr>
        <p:spPr>
          <a:xfrm>
            <a:off x="8183880" y="25603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constellation de 8 faits, 7 dimensions, SCD 2</a:t>
            </a:r>
            <a:endParaRPr lang="en-US" sz="1400" dirty="0"/>
          </a:p>
        </p:txBody>
      </p:sp>
      <p:sp>
        <p:nvSpPr>
          <p:cNvPr id="30" name="fleche_pbi"/>
          <p:cNvSpPr/>
          <p:nvPr/>
        </p:nvSpPr>
        <p:spPr>
          <a:xfrm>
            <a:off x="10195560" y="265176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pbi"/>
          <p:cNvSpPr/>
          <p:nvPr/>
        </p:nvSpPr>
        <p:spPr>
          <a:xfrm>
            <a:off x="10515600" y="2194560"/>
            <a:ext cx="960120" cy="9601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txt_123"/>
          <p:cNvSpPr txBox="1"/>
          <p:nvPr/>
        </p:nvSpPr>
        <p:spPr>
          <a:xfrm>
            <a:off x="10515600" y="21945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Power BI</a:t>
            </a:r>
            <a:endParaRPr lang="en-US" sz="1200" dirty="0"/>
          </a:p>
        </p:txBody>
      </p:sp>
      <p:sp>
        <p:nvSpPr>
          <p:cNvPr id="33" name="carte_124"/>
          <p:cNvSpPr/>
          <p:nvPr/>
        </p:nvSpPr>
        <p:spPr>
          <a:xfrm>
            <a:off x="3154680" y="4069080"/>
            <a:ext cx="34747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xt_125"/>
          <p:cNvSpPr txBox="1"/>
          <p:nvPr/>
        </p:nvSpPr>
        <p:spPr>
          <a:xfrm>
            <a:off x="3337560" y="42062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quality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chaque rejet conservé intégralement, avec son motif</a:t>
            </a:r>
            <a:endParaRPr lang="en-US" sz="1400" dirty="0"/>
          </a:p>
        </p:txBody>
      </p:sp>
      <p:sp>
        <p:nvSpPr>
          <p:cNvPr id="35" name="carte_126"/>
          <p:cNvSpPr/>
          <p:nvPr/>
        </p:nvSpPr>
        <p:spPr>
          <a:xfrm>
            <a:off x="6812280" y="4069080"/>
            <a:ext cx="34747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xt_127"/>
          <p:cNvSpPr txBox="1"/>
          <p:nvPr/>
        </p:nvSpPr>
        <p:spPr>
          <a:xfrm>
            <a:off x="6995160" y="42062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catalogue des sources et journal de chaque étape</a:t>
            </a:r>
            <a:endParaRPr lang="en-US" sz="1400" dirty="0"/>
          </a:p>
        </p:txBody>
      </p:sp>
      <p:sp>
        <p:nvSpPr>
          <p:cNvPr id="37" name="txt_128"/>
          <p:cNvSpPr txBox="1"/>
          <p:nvPr/>
        </p:nvSpPr>
        <p:spPr>
          <a:xfrm>
            <a:off x="548640" y="56235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Pourquoi ELT : garder le brut pour prouver chaque correction, et changer une règle sans réextraire. Pas pour le volume : 800 000 enregistrements, ce n'est pas du Big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159 946 anomalies traitées, aucune devinée</a:t>
            </a:r>
            <a:endParaRPr lang="en-US" sz="3200" dirty="0"/>
          </a:p>
        </p:txBody>
      </p:sp>
      <p:sp>
        <p:nvSpPr>
          <p:cNvPr id="3" name="badge_129"/>
          <p:cNvSpPr/>
          <p:nvPr/>
        </p:nvSpPr>
        <p:spPr>
          <a:xfrm>
            <a:off x="548640" y="42976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badge_num_130"/>
          <p:cNvSpPr txBox="1"/>
          <p:nvPr/>
        </p:nvSpPr>
        <p:spPr>
          <a:xfrm>
            <a:off x="548640" y="429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graphicFrame>
        <p:nvGraphicFramePr>
          <p:cNvPr id="5" name="graph_qualite" descr=""/>
          <p:cNvGraphicFramePr/>
          <p:nvPr/>
        </p:nvGraphicFramePr>
        <p:xfrm>
          <a:off x="548640" y="137160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xt_131"/>
          <p:cNvSpPr txBox="1"/>
          <p:nvPr/>
        </p:nvSpPr>
        <p:spPr>
          <a:xfrm>
            <a:off x="7589520" y="13258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 / 69</a:t>
            </a:r>
            <a:endParaRPr lang="en-US" sz="3400" dirty="0"/>
          </a:p>
        </p:txBody>
      </p:sp>
      <p:sp>
        <p:nvSpPr>
          <p:cNvPr id="7" name="txt_132"/>
          <p:cNvSpPr txBox="1"/>
          <p:nvPr/>
        </p:nvSpPr>
        <p:spPr>
          <a:xfrm>
            <a:off x="7589520" y="207568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types d'anomalies traités à 100 % (porte G3)</a:t>
            </a:r>
            <a:endParaRPr lang="en-US" sz="1400" dirty="0"/>
          </a:p>
        </p:txBody>
      </p:sp>
      <p:sp>
        <p:nvSpPr>
          <p:cNvPr id="8" name="txt_133"/>
          <p:cNvSpPr txBox="1"/>
          <p:nvPr/>
        </p:nvSpPr>
        <p:spPr>
          <a:xfrm>
            <a:off x="7589520" y="27889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</a:t>
            </a:r>
            <a:endParaRPr lang="en-US" sz="3400" dirty="0"/>
          </a:p>
        </p:txBody>
      </p:sp>
      <p:sp>
        <p:nvSpPr>
          <p:cNvPr id="9" name="txt_134"/>
          <p:cNvSpPr txBox="1"/>
          <p:nvPr/>
        </p:nvSpPr>
        <p:spPr>
          <a:xfrm>
            <a:off x="7589520" y="35387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règles, sur 5 dimensions : complétude, unicité, cohérence, exactitude, fraîcheur</a:t>
            </a:r>
            <a:endParaRPr lang="en-US" sz="1400" dirty="0"/>
          </a:p>
        </p:txBody>
      </p:sp>
      <p:sp>
        <p:nvSpPr>
          <p:cNvPr id="10" name="txt_135"/>
          <p:cNvSpPr txBox="1"/>
          <p:nvPr/>
        </p:nvSpPr>
        <p:spPr>
          <a:xfrm>
            <a:off x="7589520" y="42519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3400" dirty="0"/>
          </a:p>
        </p:txBody>
      </p:sp>
      <p:sp>
        <p:nvSpPr>
          <p:cNvPr id="11" name="txt_136"/>
          <p:cNvSpPr txBox="1"/>
          <p:nvPr/>
        </p:nvSpPr>
        <p:spPr>
          <a:xfrm>
            <a:off x="7589520" y="500176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règles signalent au lieu de deviner : corriger n'est pas inventer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Sept portes de contrôle, toutes vertes</a:t>
            </a:r>
            <a:endParaRPr lang="en-US" sz="3200" dirty="0"/>
          </a:p>
        </p:txBody>
      </p:sp>
      <p:sp>
        <p:nvSpPr>
          <p:cNvPr id="3" name="badge_137"/>
          <p:cNvSpPr/>
          <p:nvPr/>
        </p:nvSpPr>
        <p:spPr>
          <a:xfrm>
            <a:off x="548640" y="42976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badge_num_138"/>
          <p:cNvSpPr txBox="1"/>
          <p:nvPr/>
        </p:nvSpPr>
        <p:spPr>
          <a:xfrm>
            <a:off x="548640" y="429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5" name="carte_139"/>
          <p:cNvSpPr/>
          <p:nvPr/>
        </p:nvSpPr>
        <p:spPr>
          <a:xfrm>
            <a:off x="548640" y="1417320"/>
            <a:ext cx="1261872" cy="1600200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xt_140"/>
          <p:cNvSpPr txBox="1"/>
          <p:nvPr/>
        </p:nvSpPr>
        <p:spPr>
          <a:xfrm>
            <a:off x="548640" y="15544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G0</a:t>
            </a:r>
            <a:endParaRPr lang="en-US" sz="2000" dirty="0"/>
          </a:p>
        </p:txBody>
      </p:sp>
      <p:sp>
        <p:nvSpPr>
          <p:cNvPr id="7" name="txt_141"/>
          <p:cNvSpPr txBox="1"/>
          <p:nvPr/>
        </p:nvSpPr>
        <p:spPr>
          <a:xfrm>
            <a:off x="548640" y="20116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5/5</a:t>
            </a:r>
            <a:endParaRPr lang="en-US" sz="1800" dirty="0"/>
          </a:p>
        </p:txBody>
      </p:sp>
      <p:sp>
        <p:nvSpPr>
          <p:cNvPr id="8" name="txt_142"/>
          <p:cNvSpPr txBox="1"/>
          <p:nvPr/>
        </p:nvSpPr>
        <p:spPr>
          <a:xfrm>
            <a:off x="594360" y="24688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Infrastructure</a:t>
            </a:r>
            <a:endParaRPr lang="en-US" sz="1200" dirty="0"/>
          </a:p>
        </p:txBody>
      </p:sp>
      <p:sp>
        <p:nvSpPr>
          <p:cNvPr id="9" name="carte_143"/>
          <p:cNvSpPr/>
          <p:nvPr/>
        </p:nvSpPr>
        <p:spPr>
          <a:xfrm>
            <a:off x="1947672" y="1417320"/>
            <a:ext cx="1261872" cy="1600200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xt_144"/>
          <p:cNvSpPr txBox="1"/>
          <p:nvPr/>
        </p:nvSpPr>
        <p:spPr>
          <a:xfrm>
            <a:off x="1947672" y="15544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</a:t>
            </a:r>
            <a:endParaRPr lang="en-US" sz="2000" dirty="0"/>
          </a:p>
        </p:txBody>
      </p:sp>
      <p:sp>
        <p:nvSpPr>
          <p:cNvPr id="11" name="txt_145"/>
          <p:cNvSpPr txBox="1"/>
          <p:nvPr/>
        </p:nvSpPr>
        <p:spPr>
          <a:xfrm>
            <a:off x="1947672" y="20116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195/195</a:t>
            </a:r>
            <a:endParaRPr lang="en-US" sz="1800" dirty="0"/>
          </a:p>
        </p:txBody>
      </p:sp>
      <p:sp>
        <p:nvSpPr>
          <p:cNvPr id="12" name="txt_146"/>
          <p:cNvSpPr txBox="1"/>
          <p:nvPr/>
        </p:nvSpPr>
        <p:spPr>
          <a:xfrm>
            <a:off x="1993392" y="24688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Sources</a:t>
            </a:r>
            <a:endParaRPr lang="en-US" sz="1200" dirty="0"/>
          </a:p>
        </p:txBody>
      </p:sp>
      <p:sp>
        <p:nvSpPr>
          <p:cNvPr id="13" name="carte_147"/>
          <p:cNvSpPr/>
          <p:nvPr/>
        </p:nvSpPr>
        <p:spPr>
          <a:xfrm>
            <a:off x="3346704" y="1417320"/>
            <a:ext cx="1261872" cy="1600200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xt_148"/>
          <p:cNvSpPr txBox="1"/>
          <p:nvPr/>
        </p:nvSpPr>
        <p:spPr>
          <a:xfrm>
            <a:off x="3346704" y="15544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</a:t>
            </a:r>
            <a:endParaRPr lang="en-US" sz="2000" dirty="0"/>
          </a:p>
        </p:txBody>
      </p:sp>
      <p:sp>
        <p:nvSpPr>
          <p:cNvPr id="15" name="txt_149"/>
          <p:cNvSpPr txBox="1"/>
          <p:nvPr/>
        </p:nvSpPr>
        <p:spPr>
          <a:xfrm>
            <a:off x="3346704" y="20116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85/85</a:t>
            </a:r>
            <a:endParaRPr lang="en-US" sz="1800" dirty="0"/>
          </a:p>
        </p:txBody>
      </p:sp>
      <p:sp>
        <p:nvSpPr>
          <p:cNvPr id="16" name="txt_150"/>
          <p:cNvSpPr txBox="1"/>
          <p:nvPr/>
        </p:nvSpPr>
        <p:spPr>
          <a:xfrm>
            <a:off x="3392424" y="24688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Extraction</a:t>
            </a:r>
            <a:endParaRPr lang="en-US" sz="1200" dirty="0"/>
          </a:p>
        </p:txBody>
      </p:sp>
      <p:sp>
        <p:nvSpPr>
          <p:cNvPr id="17" name="carte_151"/>
          <p:cNvSpPr/>
          <p:nvPr/>
        </p:nvSpPr>
        <p:spPr>
          <a:xfrm>
            <a:off x="4745736" y="1417320"/>
            <a:ext cx="1261872" cy="1600200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xt_152"/>
          <p:cNvSpPr txBox="1"/>
          <p:nvPr/>
        </p:nvSpPr>
        <p:spPr>
          <a:xfrm>
            <a:off x="4745736" y="15544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G3</a:t>
            </a:r>
            <a:endParaRPr lang="en-US" sz="2000" dirty="0"/>
          </a:p>
        </p:txBody>
      </p:sp>
      <p:sp>
        <p:nvSpPr>
          <p:cNvPr id="19" name="txt_153"/>
          <p:cNvSpPr txBox="1"/>
          <p:nvPr/>
        </p:nvSpPr>
        <p:spPr>
          <a:xfrm>
            <a:off x="4745736" y="20116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69/69</a:t>
            </a:r>
            <a:endParaRPr lang="en-US" sz="1800" dirty="0"/>
          </a:p>
        </p:txBody>
      </p:sp>
      <p:sp>
        <p:nvSpPr>
          <p:cNvPr id="20" name="txt_154"/>
          <p:cNvSpPr txBox="1"/>
          <p:nvPr/>
        </p:nvSpPr>
        <p:spPr>
          <a:xfrm>
            <a:off x="4791456" y="24688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Qualité</a:t>
            </a:r>
            <a:endParaRPr lang="en-US" sz="1200" dirty="0"/>
          </a:p>
        </p:txBody>
      </p:sp>
      <p:sp>
        <p:nvSpPr>
          <p:cNvPr id="21" name="carte_155"/>
          <p:cNvSpPr/>
          <p:nvPr/>
        </p:nvSpPr>
        <p:spPr>
          <a:xfrm>
            <a:off x="6144768" y="1417320"/>
            <a:ext cx="1261872" cy="1600200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xt_156"/>
          <p:cNvSpPr txBox="1"/>
          <p:nvPr/>
        </p:nvSpPr>
        <p:spPr>
          <a:xfrm>
            <a:off x="6144768" y="15544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G4</a:t>
            </a:r>
            <a:endParaRPr lang="en-US" sz="2000" dirty="0"/>
          </a:p>
        </p:txBody>
      </p:sp>
      <p:sp>
        <p:nvSpPr>
          <p:cNvPr id="23" name="txt_157"/>
          <p:cNvSpPr txBox="1"/>
          <p:nvPr/>
        </p:nvSpPr>
        <p:spPr>
          <a:xfrm>
            <a:off x="6144768" y="20116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57/57</a:t>
            </a:r>
            <a:endParaRPr lang="en-US" sz="1800" dirty="0"/>
          </a:p>
        </p:txBody>
      </p:sp>
      <p:sp>
        <p:nvSpPr>
          <p:cNvPr id="24" name="txt_158"/>
          <p:cNvSpPr txBox="1"/>
          <p:nvPr/>
        </p:nvSpPr>
        <p:spPr>
          <a:xfrm>
            <a:off x="6190488" y="24688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Entrepôt</a:t>
            </a:r>
            <a:endParaRPr lang="en-US" sz="1200" dirty="0"/>
          </a:p>
        </p:txBody>
      </p:sp>
      <p:sp>
        <p:nvSpPr>
          <p:cNvPr id="25" name="carte_159"/>
          <p:cNvSpPr/>
          <p:nvPr/>
        </p:nvSpPr>
        <p:spPr>
          <a:xfrm>
            <a:off x="7543800" y="1417320"/>
            <a:ext cx="1261872" cy="1600200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xt_160"/>
          <p:cNvSpPr txBox="1"/>
          <p:nvPr/>
        </p:nvSpPr>
        <p:spPr>
          <a:xfrm>
            <a:off x="7543800" y="15544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G5a</a:t>
            </a:r>
            <a:endParaRPr lang="en-US" sz="2000" dirty="0"/>
          </a:p>
        </p:txBody>
      </p:sp>
      <p:sp>
        <p:nvSpPr>
          <p:cNvPr id="27" name="txt_161"/>
          <p:cNvSpPr txBox="1"/>
          <p:nvPr/>
        </p:nvSpPr>
        <p:spPr>
          <a:xfrm>
            <a:off x="7543800" y="20116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8/8</a:t>
            </a:r>
            <a:endParaRPr lang="en-US" sz="1800" dirty="0"/>
          </a:p>
        </p:txBody>
      </p:sp>
      <p:sp>
        <p:nvSpPr>
          <p:cNvPr id="28" name="txt_162"/>
          <p:cNvSpPr txBox="1"/>
          <p:nvPr/>
        </p:nvSpPr>
        <p:spPr>
          <a:xfrm>
            <a:off x="7589520" y="24688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KPI SQL = Python</a:t>
            </a:r>
            <a:endParaRPr lang="en-US" sz="1200" dirty="0"/>
          </a:p>
        </p:txBody>
      </p:sp>
      <p:sp>
        <p:nvSpPr>
          <p:cNvPr id="29" name="carte_163"/>
          <p:cNvSpPr/>
          <p:nvPr/>
        </p:nvSpPr>
        <p:spPr>
          <a:xfrm>
            <a:off x="8942832" y="1417320"/>
            <a:ext cx="1261872" cy="1600200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xt_164"/>
          <p:cNvSpPr txBox="1"/>
          <p:nvPr/>
        </p:nvSpPr>
        <p:spPr>
          <a:xfrm>
            <a:off x="8942832" y="15544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G5b</a:t>
            </a:r>
            <a:endParaRPr lang="en-US" sz="2000" dirty="0"/>
          </a:p>
        </p:txBody>
      </p:sp>
      <p:sp>
        <p:nvSpPr>
          <p:cNvPr id="31" name="txt_165"/>
          <p:cNvSpPr txBox="1"/>
          <p:nvPr/>
        </p:nvSpPr>
        <p:spPr>
          <a:xfrm>
            <a:off x="8942832" y="20116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8/8</a:t>
            </a:r>
            <a:endParaRPr lang="en-US" sz="1800" dirty="0"/>
          </a:p>
        </p:txBody>
      </p:sp>
      <p:sp>
        <p:nvSpPr>
          <p:cNvPr id="32" name="txt_166"/>
          <p:cNvSpPr txBox="1"/>
          <p:nvPr/>
        </p:nvSpPr>
        <p:spPr>
          <a:xfrm>
            <a:off x="8988552" y="24688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KPI DAX = SQL</a:t>
            </a:r>
            <a:endParaRPr lang="en-US" sz="1200" dirty="0"/>
          </a:p>
        </p:txBody>
      </p:sp>
      <p:sp>
        <p:nvSpPr>
          <p:cNvPr id="33" name="carte_167"/>
          <p:cNvSpPr/>
          <p:nvPr/>
        </p:nvSpPr>
        <p:spPr>
          <a:xfrm>
            <a:off x="10341864" y="1417320"/>
            <a:ext cx="1261872" cy="1600200"/>
          </a:xfrm>
          <a:prstGeom prst="roundRect">
            <a:avLst>
              <a:gd name="adj" fmla="val 579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xt_168"/>
          <p:cNvSpPr txBox="1"/>
          <p:nvPr/>
        </p:nvSpPr>
        <p:spPr>
          <a:xfrm>
            <a:off x="10341864" y="15544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G6</a:t>
            </a:r>
            <a:endParaRPr lang="en-US" sz="2000" dirty="0"/>
          </a:p>
        </p:txBody>
      </p:sp>
      <p:sp>
        <p:nvSpPr>
          <p:cNvPr id="35" name="txt_169"/>
          <p:cNvSpPr txBox="1"/>
          <p:nvPr/>
        </p:nvSpPr>
        <p:spPr>
          <a:xfrm>
            <a:off x="10341864" y="20116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101/101</a:t>
            </a:r>
            <a:endParaRPr lang="en-US" sz="1800" dirty="0"/>
          </a:p>
        </p:txBody>
      </p:sp>
      <p:sp>
        <p:nvSpPr>
          <p:cNvPr id="36" name="txt_170"/>
          <p:cNvSpPr txBox="1"/>
          <p:nvPr/>
        </p:nvSpPr>
        <p:spPr>
          <a:xfrm>
            <a:off x="10387584" y="24688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De bout en bout</a:t>
            </a:r>
            <a:endParaRPr lang="en-US" sz="1200" dirty="0"/>
          </a:p>
        </p:txBody>
      </p:sp>
      <p:sp>
        <p:nvSpPr>
          <p:cNvPr id="37" name="carte_171"/>
          <p:cNvSpPr/>
          <p:nvPr/>
        </p:nvSpPr>
        <p:spPr>
          <a:xfrm>
            <a:off x="548640" y="3337560"/>
            <a:ext cx="5486400" cy="219456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8" name="txt_172"/>
          <p:cNvSpPr txBox="1"/>
          <p:nvPr/>
        </p:nvSpPr>
        <p:spPr>
          <a:xfrm>
            <a:off x="868680" y="35204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L'équation de conservation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staging = clean + rejets distincts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clean = faits du DW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chemeClr val="bg1"/>
                </a:solidFill>
              </a:rPr>
              <a:t>Aucune ligne ne disparaît sans trace.</a:t>
            </a:r>
            <a:endParaRPr lang="en-US" sz="1600" dirty="0"/>
          </a:p>
        </p:txBody>
      </p:sp>
      <p:sp>
        <p:nvSpPr>
          <p:cNvPr id="39" name="txt_173"/>
          <p:cNvSpPr txBox="1"/>
          <p:nvPr/>
        </p:nvSpPr>
        <p:spPr>
          <a:xfrm>
            <a:off x="6400800" y="3291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368</a:t>
            </a:r>
            <a:endParaRPr lang="en-US" sz="3800" dirty="0"/>
          </a:p>
        </p:txBody>
      </p:sp>
      <p:sp>
        <p:nvSpPr>
          <p:cNvPr id="40" name="txt_174"/>
          <p:cNvSpPr txBox="1"/>
          <p:nvPr/>
        </p:nvSpPr>
        <p:spPr>
          <a:xfrm>
            <a:off x="640080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tests automatisés : 299 unitaires, 69 d'intégration</a:t>
            </a:r>
            <a:endParaRPr lang="en-US" sz="1400" dirty="0"/>
          </a:p>
        </p:txBody>
      </p:sp>
      <p:sp>
        <p:nvSpPr>
          <p:cNvPr id="41" name="txt_175"/>
          <p:cNvSpPr txBox="1"/>
          <p:nvPr/>
        </p:nvSpPr>
        <p:spPr>
          <a:xfrm>
            <a:off x="9098280" y="32918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9</a:t>
            </a:r>
            <a:endParaRPr lang="en-US" sz="3800" dirty="0"/>
          </a:p>
        </p:txBody>
      </p:sp>
      <p:sp>
        <p:nvSpPr>
          <p:cNvPr id="42" name="txt_176"/>
          <p:cNvSpPr txBox="1"/>
          <p:nvPr/>
        </p:nvSpPr>
        <p:spPr>
          <a:xfrm>
            <a:off x="9098280" y="40416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erreurs introduites volontairement, toutes détectées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Chaque chiffre est traçable jusqu'à sa source</a:t>
            </a:r>
            <a:endParaRPr lang="en-US" sz="3200" dirty="0"/>
          </a:p>
        </p:txBody>
      </p:sp>
      <p:sp>
        <p:nvSpPr>
          <p:cNvPr id="3" name="badge_177"/>
          <p:cNvSpPr/>
          <p:nvPr/>
        </p:nvSpPr>
        <p:spPr>
          <a:xfrm>
            <a:off x="548640" y="42976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badge_num_178"/>
          <p:cNvSpPr txBox="1"/>
          <p:nvPr/>
        </p:nvSpPr>
        <p:spPr>
          <a:xfrm>
            <a:off x="548640" y="429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5" name="carte_179"/>
          <p:cNvSpPr/>
          <p:nvPr/>
        </p:nvSpPr>
        <p:spPr>
          <a:xfrm>
            <a:off x="548640" y="1417320"/>
            <a:ext cx="53949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xt_180"/>
          <p:cNvSpPr txBox="1"/>
          <p:nvPr/>
        </p:nvSpPr>
        <p:spPr>
          <a:xfrm>
            <a:off x="82296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meta.metadata_sources</a:t>
            </a:r>
            <a:endParaRPr lang="en-US" sz="2000" dirty="0"/>
          </a:p>
        </p:txBody>
      </p:sp>
      <p:sp>
        <p:nvSpPr>
          <p:cNvPr id="7" name="txt_181"/>
          <p:cNvSpPr txBox="1"/>
          <p:nvPr/>
        </p:nvSpPr>
        <p:spPr>
          <a:xfrm>
            <a:off x="82296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Le catalogue des 17 objets sources</a:t>
            </a:r>
            <a:endParaRPr lang="en-US" sz="1500" dirty="0"/>
          </a:p>
        </p:txBody>
      </p:sp>
      <p:sp>
        <p:nvSpPr>
          <p:cNvPr id="8" name="txt_182"/>
          <p:cNvSpPr txBox="1"/>
          <p:nvPr/>
        </p:nvSpPr>
        <p:spPr>
          <a:xfrm>
            <a:off x="822960" y="25603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source, emplacement, technologie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version du schéma (empreinte des colonnes)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dernière extraction : lot, lignes, statut</a:t>
            </a:r>
            <a:endParaRPr lang="en-US" sz="1500" dirty="0"/>
          </a:p>
        </p:txBody>
      </p:sp>
      <p:sp>
        <p:nvSpPr>
          <p:cNvPr id="9" name="carte_183"/>
          <p:cNvSpPr/>
          <p:nvPr/>
        </p:nvSpPr>
        <p:spPr>
          <a:xfrm>
            <a:off x="6172200" y="1417320"/>
            <a:ext cx="53949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xt_184"/>
          <p:cNvSpPr txBox="1"/>
          <p:nvPr/>
        </p:nvSpPr>
        <p:spPr>
          <a:xfrm>
            <a:off x="644652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meta.etl_execution_log</a:t>
            </a:r>
            <a:endParaRPr lang="en-US" sz="2000" dirty="0"/>
          </a:p>
        </p:txBody>
      </p:sp>
      <p:sp>
        <p:nvSpPr>
          <p:cNvPr id="11" name="txt_185"/>
          <p:cNvSpPr txBox="1"/>
          <p:nvPr/>
        </p:nvSpPr>
        <p:spPr>
          <a:xfrm>
            <a:off x="644652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Le journal de chaque étape</a:t>
            </a:r>
            <a:endParaRPr lang="en-US" sz="1500" dirty="0"/>
          </a:p>
        </p:txBody>
      </p:sp>
      <p:sp>
        <p:nvSpPr>
          <p:cNvPr id="12" name="txt_186"/>
          <p:cNvSpPr txBox="1"/>
          <p:nvPr/>
        </p:nvSpPr>
        <p:spPr>
          <a:xfrm>
            <a:off x="6446520" y="25603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source, date, durée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nombre de lignes, erreurs, statut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lot et version du pipeline</a:t>
            </a:r>
            <a:endParaRPr lang="en-US" sz="1500" dirty="0"/>
          </a:p>
        </p:txBody>
      </p:sp>
      <p:sp>
        <p:nvSpPr>
          <p:cNvPr id="13" name="lignage_187"/>
          <p:cNvSpPr/>
          <p:nvPr/>
        </p:nvSpPr>
        <p:spPr>
          <a:xfrm>
            <a:off x="548640" y="4572000"/>
            <a:ext cx="1965960" cy="6400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xt_188"/>
          <p:cNvSpPr txBox="1"/>
          <p:nvPr/>
        </p:nvSpPr>
        <p:spPr>
          <a:xfrm>
            <a:off x="548640" y="4572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Source</a:t>
            </a:r>
            <a:endParaRPr lang="en-US" sz="1300" dirty="0"/>
          </a:p>
        </p:txBody>
      </p:sp>
      <p:sp>
        <p:nvSpPr>
          <p:cNvPr id="15" name="fl_189"/>
          <p:cNvSpPr/>
          <p:nvPr/>
        </p:nvSpPr>
        <p:spPr>
          <a:xfrm>
            <a:off x="2514600" y="4892040"/>
            <a:ext cx="30175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lignage_190"/>
          <p:cNvSpPr/>
          <p:nvPr/>
        </p:nvSpPr>
        <p:spPr>
          <a:xfrm>
            <a:off x="2816352" y="4572000"/>
            <a:ext cx="1965960" cy="6400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xt_191"/>
          <p:cNvSpPr txBox="1"/>
          <p:nvPr/>
        </p:nvSpPr>
        <p:spPr>
          <a:xfrm>
            <a:off x="2816352" y="4572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Manifeste du lot</a:t>
            </a:r>
            <a:endParaRPr lang="en-US" sz="1300" dirty="0"/>
          </a:p>
        </p:txBody>
      </p:sp>
      <p:sp>
        <p:nvSpPr>
          <p:cNvPr id="18" name="fl_192"/>
          <p:cNvSpPr/>
          <p:nvPr/>
        </p:nvSpPr>
        <p:spPr>
          <a:xfrm>
            <a:off x="4782312" y="4892040"/>
            <a:ext cx="30175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lignage_193"/>
          <p:cNvSpPr/>
          <p:nvPr/>
        </p:nvSpPr>
        <p:spPr>
          <a:xfrm>
            <a:off x="5084064" y="4572000"/>
            <a:ext cx="1965960" cy="6400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xt_194"/>
          <p:cNvSpPr txBox="1"/>
          <p:nvPr/>
        </p:nvSpPr>
        <p:spPr>
          <a:xfrm>
            <a:off x="5084064" y="4572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Journal EXTRACT / LOAD</a:t>
            </a:r>
            <a:endParaRPr lang="en-US" sz="1300" dirty="0"/>
          </a:p>
        </p:txBody>
      </p:sp>
      <p:sp>
        <p:nvSpPr>
          <p:cNvPr id="21" name="fl_195"/>
          <p:cNvSpPr/>
          <p:nvPr/>
        </p:nvSpPr>
        <p:spPr>
          <a:xfrm>
            <a:off x="7050024" y="4892040"/>
            <a:ext cx="30175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lignage_196"/>
          <p:cNvSpPr/>
          <p:nvPr/>
        </p:nvSpPr>
        <p:spPr>
          <a:xfrm>
            <a:off x="7351776" y="4572000"/>
            <a:ext cx="1965960" cy="6400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xt_197"/>
          <p:cNvSpPr txBox="1"/>
          <p:nvPr/>
        </p:nvSpPr>
        <p:spPr>
          <a:xfrm>
            <a:off x="7351776" y="4572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Rejets tracés</a:t>
            </a:r>
            <a:endParaRPr lang="en-US" sz="1300" dirty="0"/>
          </a:p>
        </p:txBody>
      </p:sp>
      <p:sp>
        <p:nvSpPr>
          <p:cNvPr id="24" name="fl_198"/>
          <p:cNvSpPr/>
          <p:nvPr/>
        </p:nvSpPr>
        <p:spPr>
          <a:xfrm>
            <a:off x="9317736" y="4892040"/>
            <a:ext cx="30175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lignage_199"/>
          <p:cNvSpPr/>
          <p:nvPr/>
        </p:nvSpPr>
        <p:spPr>
          <a:xfrm>
            <a:off x="9619488" y="4572000"/>
            <a:ext cx="1965960" cy="6400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xt_200"/>
          <p:cNvSpPr txBox="1"/>
          <p:nvPr/>
        </p:nvSpPr>
        <p:spPr>
          <a:xfrm>
            <a:off x="9619488" y="4572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Faits du DW</a:t>
            </a:r>
            <a:endParaRPr lang="en-US" sz="1300" dirty="0"/>
          </a:p>
        </p:txBody>
      </p:sp>
      <p:sp>
        <p:nvSpPr>
          <p:cNvPr id="27" name="txt_201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Le lignage de bout en bout : un chiffre du tableau de bord se remonte jusqu'à la ligne source qui l'a produit.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 entrepôt PostgreSQL en trois couches</a:t>
            </a:r>
            <a:endParaRPr lang="en-US" sz="3200" dirty="0"/>
          </a:p>
        </p:txBody>
      </p:sp>
      <p:sp>
        <p:nvSpPr>
          <p:cNvPr id="3" name="badge_202"/>
          <p:cNvSpPr/>
          <p:nvPr/>
        </p:nvSpPr>
        <p:spPr>
          <a:xfrm>
            <a:off x="548640" y="42976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badge_num_203"/>
          <p:cNvSpPr txBox="1"/>
          <p:nvPr/>
        </p:nvSpPr>
        <p:spPr>
          <a:xfrm>
            <a:off x="548640" y="429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5" name="etage_204"/>
          <p:cNvSpPr/>
          <p:nvPr/>
        </p:nvSpPr>
        <p:spPr>
          <a:xfrm>
            <a:off x="548640" y="1463040"/>
            <a:ext cx="5669280" cy="1143000"/>
          </a:xfrm>
          <a:prstGeom prst="roundRect">
            <a:avLst>
              <a:gd name="adj" fmla="val 64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xt_205"/>
          <p:cNvSpPr txBox="1"/>
          <p:nvPr/>
        </p:nvSpPr>
        <p:spPr>
          <a:xfrm>
            <a:off x="822960" y="15727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· dw</a:t>
            </a:r>
            <a:endParaRPr lang="en-US" sz="2000" dirty="0"/>
          </a:p>
        </p:txBody>
      </p:sp>
      <p:sp>
        <p:nvSpPr>
          <p:cNvPr id="7" name="txt_206"/>
          <p:cNvSpPr txBox="1"/>
          <p:nvPr/>
        </p:nvSpPr>
        <p:spPr>
          <a:xfrm>
            <a:off x="822960" y="20116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faits, 7 dimensions conformes, membres « Inconnu » (−1)</a:t>
            </a:r>
            <a:endParaRPr lang="en-US" sz="1400" dirty="0"/>
          </a:p>
        </p:txBody>
      </p:sp>
      <p:sp>
        <p:nvSpPr>
          <p:cNvPr id="8" name="etage_207"/>
          <p:cNvSpPr/>
          <p:nvPr/>
        </p:nvSpPr>
        <p:spPr>
          <a:xfrm>
            <a:off x="548640" y="2788920"/>
            <a:ext cx="5669280" cy="1143000"/>
          </a:xfrm>
          <a:prstGeom prst="roundRect">
            <a:avLst>
              <a:gd name="adj" fmla="val 64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xt_208"/>
          <p:cNvSpPr txBox="1"/>
          <p:nvPr/>
        </p:nvSpPr>
        <p:spPr>
          <a:xfrm>
            <a:off x="822960" y="28986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Argent · clean</a:t>
            </a:r>
            <a:endParaRPr lang="en-US" sz="2000" dirty="0"/>
          </a:p>
        </p:txBody>
      </p:sp>
      <p:sp>
        <p:nvSpPr>
          <p:cNvPr id="10" name="txt_209"/>
          <p:cNvSpPr txBox="1"/>
          <p:nvPr/>
        </p:nvSpPr>
        <p:spPr>
          <a:xfrm>
            <a:off x="822960" y="3337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données typées, standardisées, dédoublonnées ; 26 tables</a:t>
            </a:r>
            <a:endParaRPr lang="en-US" sz="1400" dirty="0"/>
          </a:p>
        </p:txBody>
      </p:sp>
      <p:sp>
        <p:nvSpPr>
          <p:cNvPr id="11" name="etage_210"/>
          <p:cNvSpPr/>
          <p:nvPr/>
        </p:nvSpPr>
        <p:spPr>
          <a:xfrm>
            <a:off x="548640" y="4114800"/>
            <a:ext cx="5669280" cy="1143000"/>
          </a:xfrm>
          <a:prstGeom prst="roundRect">
            <a:avLst>
              <a:gd name="adj" fmla="val 64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xt_211"/>
          <p:cNvSpPr txBox="1"/>
          <p:nvPr/>
        </p:nvSpPr>
        <p:spPr>
          <a:xfrm>
            <a:off x="822960" y="42245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 · staging</a:t>
            </a:r>
            <a:endParaRPr lang="en-US" sz="2000" dirty="0"/>
          </a:p>
        </p:txBody>
      </p:sp>
      <p:sp>
        <p:nvSpPr>
          <p:cNvPr id="13" name="txt_212"/>
          <p:cNvSpPr txBox="1"/>
          <p:nvPr/>
        </p:nvSpPr>
        <p:spPr>
          <a:xfrm>
            <a:off x="822960" y="46634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copie brute du dernier lot ; 17 tables</a:t>
            </a:r>
            <a:endParaRPr lang="en-US" sz="1400" dirty="0"/>
          </a:p>
        </p:txBody>
      </p:sp>
      <p:sp>
        <p:nvSpPr>
          <p:cNvPr id="14" name="carte_213"/>
          <p:cNvSpPr/>
          <p:nvPr/>
        </p:nvSpPr>
        <p:spPr>
          <a:xfrm>
            <a:off x="6675120" y="1463040"/>
            <a:ext cx="4937760" cy="3794760"/>
          </a:xfrm>
          <a:prstGeom prst="roundRect">
            <a:avLst>
              <a:gd name="adj" fmla="val 19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xt_214"/>
          <p:cNvSpPr txBox="1"/>
          <p:nvPr/>
        </p:nvSpPr>
        <p:spPr>
          <a:xfrm>
            <a:off x="6949440" y="1645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étudiant change de ville</a:t>
            </a:r>
            <a:endParaRPr lang="en-US" sz="2000" dirty="0"/>
          </a:p>
        </p:txBody>
      </p:sp>
      <p:sp>
        <p:nvSpPr>
          <p:cNvPr id="16" name="txt_215"/>
          <p:cNvSpPr txBox="1"/>
          <p:nvPr/>
        </p:nvSpPr>
        <p:spPr>
          <a:xfrm>
            <a:off x="6949440" y="21488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SCD 2 sur la ville et la région de l'étudiant : l'ancienne version est fermée, une nouvelle s'ouvre.</a:t>
            </a:r>
            <a:endParaRPr lang="en-US" sz="1500" dirty="0"/>
          </a:p>
        </p:txBody>
      </p:sp>
      <p:sp>
        <p:nvSpPr>
          <p:cNvPr id="17" name="txt_216"/>
          <p:cNvSpPr txBox="1"/>
          <p:nvPr/>
        </p:nvSpPr>
        <p:spPr>
          <a:xfrm>
            <a:off x="6949440" y="30175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1 · Dakar · jusqu'au 30/09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2 · Ziguinchor · depuis le 01/10</a:t>
            </a:r>
            <a:endParaRPr lang="en-US" sz="1400" dirty="0"/>
          </a:p>
        </p:txBody>
      </p:sp>
      <p:sp>
        <p:nvSpPr>
          <p:cNvPr id="18" name="txt_217"/>
          <p:cNvSpPr txBox="1"/>
          <p:nvPr/>
        </p:nvSpPr>
        <p:spPr>
          <a:xfrm>
            <a:off x="6949440" y="393192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Un paiement de 2024 reste attribué à la région de 2024 : l'historique n'est jamais réécrit.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Une constellation de 8 faits et 7 dimensions</a:t>
            </a:r>
            <a:endParaRPr lang="en-US" sz="3200" dirty="0"/>
          </a:p>
        </p:txBody>
      </p:sp>
      <p:sp>
        <p:nvSpPr>
          <p:cNvPr id="3" name="badge_218"/>
          <p:cNvSpPr/>
          <p:nvPr/>
        </p:nvSpPr>
        <p:spPr>
          <a:xfrm>
            <a:off x="548640" y="42976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badge_num_219"/>
          <p:cNvSpPr txBox="1"/>
          <p:nvPr/>
        </p:nvSpPr>
        <p:spPr>
          <a:xfrm>
            <a:off x="548640" y="429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graphicFrame>
        <p:nvGraphicFramePr>
          <p:cNvPr id="12" name="matrice_bu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74520"/>
                <a:gridCol w="1060704"/>
                <a:gridCol w="1060704"/>
                <a:gridCol w="1060704"/>
                <a:gridCol w="1060704"/>
                <a:gridCol w="1060704"/>
                <a:gridCol w="1060704"/>
                <a:gridCol w="1088136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Étudiant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Enseignant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Paiements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paiement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Inscriptions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inscription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note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Activité quiz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événement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Connexions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connexion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étudiant × module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Salaires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enseignant × mois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absence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xt_220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Dimensions conformes : la même dimension Étudiant sert à 6 faits, ce qui permet de croiser paiements, notes et connexions sans incohérence.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8 KPI, et un indicateur que l'on ne sait pas mesurer</a:t>
            </a:r>
            <a:endParaRPr lang="en-US" sz="3200" dirty="0"/>
          </a:p>
        </p:txBody>
      </p:sp>
      <p:sp>
        <p:nvSpPr>
          <p:cNvPr id="3" name="badge_221"/>
          <p:cNvSpPr/>
          <p:nvPr/>
        </p:nvSpPr>
        <p:spPr>
          <a:xfrm>
            <a:off x="548640" y="42976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badge_num_222"/>
          <p:cNvSpPr txBox="1"/>
          <p:nvPr/>
        </p:nvSpPr>
        <p:spPr>
          <a:xfrm>
            <a:off x="548640" y="429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5" name="carte_223"/>
          <p:cNvSpPr/>
          <p:nvPr/>
        </p:nvSpPr>
        <p:spPr>
          <a:xfrm>
            <a:off x="548640" y="1371600"/>
            <a:ext cx="26060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xt_224"/>
          <p:cNvSpPr txBox="1"/>
          <p:nvPr/>
        </p:nvSpPr>
        <p:spPr>
          <a:xfrm>
            <a:off x="731520" y="1508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Chiffre d'affaires encaissé</a:t>
            </a:r>
            <a:endParaRPr lang="en-US" sz="1400" dirty="0"/>
          </a:p>
        </p:txBody>
      </p:sp>
      <p:sp>
        <p:nvSpPr>
          <p:cNvPr id="7" name="txt_225"/>
          <p:cNvSpPr txBox="1"/>
          <p:nvPr/>
        </p:nvSpPr>
        <p:spPr>
          <a:xfrm>
            <a:off x="73152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13,554 Mds XOF</a:t>
            </a:r>
            <a:endParaRPr lang="en-US" sz="2200" dirty="0"/>
          </a:p>
        </p:txBody>
      </p:sp>
      <p:sp>
        <p:nvSpPr>
          <p:cNvPr id="8" name="txt_226"/>
          <p:cNvSpPr txBox="1"/>
          <p:nvPr/>
        </p:nvSpPr>
        <p:spPr>
          <a:xfrm>
            <a:off x="731520" y="2560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Cible : ≥ N−1</a:t>
            </a:r>
            <a:endParaRPr lang="en-US" sz="1200" dirty="0"/>
          </a:p>
        </p:txBody>
      </p:sp>
      <p:sp>
        <p:nvSpPr>
          <p:cNvPr id="9" name="pastille_227"/>
          <p:cNvSpPr/>
          <p:nvPr/>
        </p:nvSpPr>
        <p:spPr>
          <a:xfrm>
            <a:off x="2011680" y="2615184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xt_228"/>
          <p:cNvSpPr txBox="1"/>
          <p:nvPr/>
        </p:nvSpPr>
        <p:spPr>
          <a:xfrm>
            <a:off x="2011680" y="26151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Atteinte</a:t>
            </a:r>
            <a:endParaRPr lang="en-US" sz="1100" dirty="0"/>
          </a:p>
        </p:txBody>
      </p:sp>
      <p:sp>
        <p:nvSpPr>
          <p:cNvPr id="11" name="carte_229"/>
          <p:cNvSpPr/>
          <p:nvPr/>
        </p:nvSpPr>
        <p:spPr>
          <a:xfrm>
            <a:off x="3355848" y="1371600"/>
            <a:ext cx="26060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xt_230"/>
          <p:cNvSpPr txBox="1"/>
          <p:nvPr/>
        </p:nvSpPr>
        <p:spPr>
          <a:xfrm>
            <a:off x="3538728" y="1508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Taux de recouvrement</a:t>
            </a:r>
            <a:endParaRPr lang="en-US" sz="1400" dirty="0"/>
          </a:p>
        </p:txBody>
      </p:sp>
      <p:sp>
        <p:nvSpPr>
          <p:cNvPr id="13" name="txt_231"/>
          <p:cNvSpPr txBox="1"/>
          <p:nvPr/>
        </p:nvSpPr>
        <p:spPr>
          <a:xfrm>
            <a:off x="3538728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90,10 %</a:t>
            </a:r>
            <a:endParaRPr lang="en-US" sz="3000" dirty="0"/>
          </a:p>
        </p:txBody>
      </p:sp>
      <p:sp>
        <p:nvSpPr>
          <p:cNvPr id="14" name="txt_232"/>
          <p:cNvSpPr txBox="1"/>
          <p:nvPr/>
        </p:nvSpPr>
        <p:spPr>
          <a:xfrm>
            <a:off x="3538728" y="2560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Cible : ≥ 90 %</a:t>
            </a:r>
            <a:endParaRPr lang="en-US" sz="1200" dirty="0"/>
          </a:p>
        </p:txBody>
      </p:sp>
      <p:sp>
        <p:nvSpPr>
          <p:cNvPr id="15" name="pastille_233"/>
          <p:cNvSpPr/>
          <p:nvPr/>
        </p:nvSpPr>
        <p:spPr>
          <a:xfrm>
            <a:off x="4818888" y="2615184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xt_234"/>
          <p:cNvSpPr txBox="1"/>
          <p:nvPr/>
        </p:nvSpPr>
        <p:spPr>
          <a:xfrm>
            <a:off x="4818888" y="26151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Atteinte</a:t>
            </a:r>
            <a:endParaRPr lang="en-US" sz="1100" dirty="0"/>
          </a:p>
        </p:txBody>
      </p:sp>
      <p:sp>
        <p:nvSpPr>
          <p:cNvPr id="17" name="carte_235"/>
          <p:cNvSpPr/>
          <p:nvPr/>
        </p:nvSpPr>
        <p:spPr>
          <a:xfrm>
            <a:off x="6163056" y="1371600"/>
            <a:ext cx="26060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xt_236"/>
          <p:cNvSpPr txBox="1"/>
          <p:nvPr/>
        </p:nvSpPr>
        <p:spPr>
          <a:xfrm>
            <a:off x="6345936" y="1508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Taux de réussite aux quiz</a:t>
            </a:r>
            <a:endParaRPr lang="en-US" sz="1400" dirty="0"/>
          </a:p>
        </p:txBody>
      </p:sp>
      <p:sp>
        <p:nvSpPr>
          <p:cNvPr id="19" name="txt_237"/>
          <p:cNvSpPr txBox="1"/>
          <p:nvPr/>
        </p:nvSpPr>
        <p:spPr>
          <a:xfrm>
            <a:off x="6345936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93,13 %</a:t>
            </a:r>
            <a:endParaRPr lang="en-US" sz="3000" dirty="0"/>
          </a:p>
        </p:txBody>
      </p:sp>
      <p:sp>
        <p:nvSpPr>
          <p:cNvPr id="20" name="txt_238"/>
          <p:cNvSpPr txBox="1"/>
          <p:nvPr/>
        </p:nvSpPr>
        <p:spPr>
          <a:xfrm>
            <a:off x="6345936" y="2560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Cible : ≥ 85 %</a:t>
            </a:r>
            <a:endParaRPr lang="en-US" sz="1200" dirty="0"/>
          </a:p>
        </p:txBody>
      </p:sp>
      <p:sp>
        <p:nvSpPr>
          <p:cNvPr id="21" name="pastille_239"/>
          <p:cNvSpPr/>
          <p:nvPr/>
        </p:nvSpPr>
        <p:spPr>
          <a:xfrm>
            <a:off x="7626096" y="2615184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xt_240"/>
          <p:cNvSpPr txBox="1"/>
          <p:nvPr/>
        </p:nvSpPr>
        <p:spPr>
          <a:xfrm>
            <a:off x="7626096" y="26151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Atteinte</a:t>
            </a:r>
            <a:endParaRPr lang="en-US" sz="1100" dirty="0"/>
          </a:p>
        </p:txBody>
      </p:sp>
      <p:sp>
        <p:nvSpPr>
          <p:cNvPr id="23" name="carte_241"/>
          <p:cNvSpPr/>
          <p:nvPr/>
        </p:nvSpPr>
        <p:spPr>
          <a:xfrm>
            <a:off x="8970264" y="1371600"/>
            <a:ext cx="26060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xt_242"/>
          <p:cNvSpPr txBox="1"/>
          <p:nvPr/>
        </p:nvSpPr>
        <p:spPr>
          <a:xfrm>
            <a:off x="9153144" y="1508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Taux d'abandon</a:t>
            </a:r>
            <a:endParaRPr lang="en-US" sz="1400" dirty="0"/>
          </a:p>
        </p:txBody>
      </p:sp>
      <p:sp>
        <p:nvSpPr>
          <p:cNvPr id="25" name="txt_243"/>
          <p:cNvSpPr txBox="1"/>
          <p:nvPr/>
        </p:nvSpPr>
        <p:spPr>
          <a:xfrm>
            <a:off x="9153144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6,24 %</a:t>
            </a:r>
            <a:endParaRPr lang="en-US" sz="3000" dirty="0"/>
          </a:p>
        </p:txBody>
      </p:sp>
      <p:sp>
        <p:nvSpPr>
          <p:cNvPr id="26" name="txt_244"/>
          <p:cNvSpPr txBox="1"/>
          <p:nvPr/>
        </p:nvSpPr>
        <p:spPr>
          <a:xfrm>
            <a:off x="9153144" y="2560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Cible : ≤ 5 %</a:t>
            </a:r>
            <a:endParaRPr lang="en-US" sz="1200" dirty="0"/>
          </a:p>
        </p:txBody>
      </p:sp>
      <p:sp>
        <p:nvSpPr>
          <p:cNvPr id="27" name="pastille_245"/>
          <p:cNvSpPr/>
          <p:nvPr/>
        </p:nvSpPr>
        <p:spPr>
          <a:xfrm>
            <a:off x="10433304" y="2615184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txt_246"/>
          <p:cNvSpPr txBox="1"/>
          <p:nvPr/>
        </p:nvSpPr>
        <p:spPr>
          <a:xfrm>
            <a:off x="10433304" y="26151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Sous la cible</a:t>
            </a:r>
            <a:endParaRPr lang="en-US" sz="1100" dirty="0"/>
          </a:p>
        </p:txBody>
      </p:sp>
      <p:sp>
        <p:nvSpPr>
          <p:cNvPr id="29" name="carte_247"/>
          <p:cNvSpPr/>
          <p:nvPr/>
        </p:nvSpPr>
        <p:spPr>
          <a:xfrm>
            <a:off x="548640" y="3337560"/>
            <a:ext cx="26060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xt_248"/>
          <p:cNvSpPr txBox="1"/>
          <p:nvPr/>
        </p:nvSpPr>
        <p:spPr>
          <a:xfrm>
            <a:off x="731520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Progression moyenne</a:t>
            </a:r>
            <a:endParaRPr lang="en-US" sz="1400" dirty="0"/>
          </a:p>
        </p:txBody>
      </p:sp>
      <p:sp>
        <p:nvSpPr>
          <p:cNvPr id="31" name="txt_249"/>
          <p:cNvSpPr txBox="1"/>
          <p:nvPr/>
        </p:nvSpPr>
        <p:spPr>
          <a:xfrm>
            <a:off x="731520" y="3840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65,59 %</a:t>
            </a:r>
            <a:endParaRPr lang="en-US" sz="3000" dirty="0"/>
          </a:p>
        </p:txBody>
      </p:sp>
      <p:sp>
        <p:nvSpPr>
          <p:cNvPr id="32" name="txt_250"/>
          <p:cNvSpPr txBox="1"/>
          <p:nvPr/>
        </p:nvSpPr>
        <p:spPr>
          <a:xfrm>
            <a:off x="731520" y="4526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Cible : ≥ 70 %</a:t>
            </a:r>
            <a:endParaRPr lang="en-US" sz="1200" dirty="0"/>
          </a:p>
        </p:txBody>
      </p:sp>
      <p:sp>
        <p:nvSpPr>
          <p:cNvPr id="33" name="pastille_251"/>
          <p:cNvSpPr/>
          <p:nvPr/>
        </p:nvSpPr>
        <p:spPr>
          <a:xfrm>
            <a:off x="2011680" y="4581144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txt_252"/>
          <p:cNvSpPr txBox="1"/>
          <p:nvPr/>
        </p:nvSpPr>
        <p:spPr>
          <a:xfrm>
            <a:off x="2011680" y="45811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Sous la cible</a:t>
            </a:r>
            <a:endParaRPr lang="en-US" sz="1100" dirty="0"/>
          </a:p>
        </p:txBody>
      </p:sp>
      <p:sp>
        <p:nvSpPr>
          <p:cNvPr id="35" name="carte_253"/>
          <p:cNvSpPr/>
          <p:nvPr/>
        </p:nvSpPr>
        <p:spPr>
          <a:xfrm>
            <a:off x="3355848" y="3337560"/>
            <a:ext cx="26060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xt_254"/>
          <p:cNvSpPr txBox="1"/>
          <p:nvPr/>
        </p:nvSpPr>
        <p:spPr>
          <a:xfrm>
            <a:off x="3538728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Étudiants actifs (30 jours)</a:t>
            </a:r>
            <a:endParaRPr lang="en-US" sz="1400" dirty="0"/>
          </a:p>
        </p:txBody>
      </p:sp>
      <p:sp>
        <p:nvSpPr>
          <p:cNvPr id="37" name="txt_255"/>
          <p:cNvSpPr txBox="1"/>
          <p:nvPr/>
        </p:nvSpPr>
        <p:spPr>
          <a:xfrm>
            <a:off x="3538728" y="3840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3 003</a:t>
            </a:r>
            <a:endParaRPr lang="en-US" sz="3000" dirty="0"/>
          </a:p>
        </p:txBody>
      </p:sp>
      <p:sp>
        <p:nvSpPr>
          <p:cNvPr id="38" name="txt_256"/>
          <p:cNvSpPr txBox="1"/>
          <p:nvPr/>
        </p:nvSpPr>
        <p:spPr>
          <a:xfrm>
            <a:off x="3538728" y="4526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Cible : ≥ 30 %</a:t>
            </a:r>
            <a:endParaRPr lang="en-US" sz="1200" dirty="0"/>
          </a:p>
        </p:txBody>
      </p:sp>
      <p:sp>
        <p:nvSpPr>
          <p:cNvPr id="39" name="pastille_257"/>
          <p:cNvSpPr/>
          <p:nvPr/>
        </p:nvSpPr>
        <p:spPr>
          <a:xfrm>
            <a:off x="4818888" y="4581144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0" name="txt_258"/>
          <p:cNvSpPr txBox="1"/>
          <p:nvPr/>
        </p:nvSpPr>
        <p:spPr>
          <a:xfrm>
            <a:off x="4818888" y="45811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Sous la cible</a:t>
            </a:r>
            <a:endParaRPr lang="en-US" sz="1100" dirty="0"/>
          </a:p>
        </p:txBody>
      </p:sp>
      <p:sp>
        <p:nvSpPr>
          <p:cNvPr id="41" name="carte_259"/>
          <p:cNvSpPr/>
          <p:nvPr/>
        </p:nvSpPr>
        <p:spPr>
          <a:xfrm>
            <a:off x="6163056" y="3337560"/>
            <a:ext cx="26060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txt_260"/>
          <p:cNvSpPr txBox="1"/>
          <p:nvPr/>
        </p:nvSpPr>
        <p:spPr>
          <a:xfrm>
            <a:off x="6345936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Temps médian de connexion</a:t>
            </a:r>
            <a:endParaRPr lang="en-US" sz="1400" dirty="0"/>
          </a:p>
        </p:txBody>
      </p:sp>
      <p:sp>
        <p:nvSpPr>
          <p:cNvPr id="43" name="txt_261"/>
          <p:cNvSpPr txBox="1"/>
          <p:nvPr/>
        </p:nvSpPr>
        <p:spPr>
          <a:xfrm>
            <a:off x="6345936" y="3840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1 740 s (29 min)</a:t>
            </a:r>
            <a:endParaRPr lang="en-US" sz="2200" dirty="0"/>
          </a:p>
        </p:txBody>
      </p:sp>
      <p:sp>
        <p:nvSpPr>
          <p:cNvPr id="44" name="txt_262"/>
          <p:cNvSpPr txBox="1"/>
          <p:nvPr/>
        </p:nvSpPr>
        <p:spPr>
          <a:xfrm>
            <a:off x="6345936" y="4526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Cible : ≥ 20 min</a:t>
            </a:r>
            <a:endParaRPr lang="en-US" sz="1200" dirty="0"/>
          </a:p>
        </p:txBody>
      </p:sp>
      <p:sp>
        <p:nvSpPr>
          <p:cNvPr id="45" name="pastille_263"/>
          <p:cNvSpPr/>
          <p:nvPr/>
        </p:nvSpPr>
        <p:spPr>
          <a:xfrm>
            <a:off x="7626096" y="4581144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6" name="txt_264"/>
          <p:cNvSpPr txBox="1"/>
          <p:nvPr/>
        </p:nvSpPr>
        <p:spPr>
          <a:xfrm>
            <a:off x="7626096" y="45811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Atteinte</a:t>
            </a:r>
            <a:endParaRPr lang="en-US" sz="1100" dirty="0"/>
          </a:p>
        </p:txBody>
      </p:sp>
      <p:sp>
        <p:nvSpPr>
          <p:cNvPr id="47" name="carte_265"/>
          <p:cNvSpPr/>
          <p:nvPr/>
        </p:nvSpPr>
        <p:spPr>
          <a:xfrm>
            <a:off x="8970264" y="3337560"/>
            <a:ext cx="26060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8" name="txt_266"/>
          <p:cNvSpPr txBox="1"/>
          <p:nvPr/>
        </p:nvSpPr>
        <p:spPr>
          <a:xfrm>
            <a:off x="9153144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Nombre réel d'étudiants</a:t>
            </a:r>
            <a:endParaRPr lang="en-US" sz="1400" dirty="0"/>
          </a:p>
        </p:txBody>
      </p:sp>
      <p:sp>
        <p:nvSpPr>
          <p:cNvPr id="49" name="txt_267"/>
          <p:cNvSpPr txBox="1"/>
          <p:nvPr/>
        </p:nvSpPr>
        <p:spPr>
          <a:xfrm>
            <a:off x="9153144" y="3840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10 500</a:t>
            </a:r>
            <a:endParaRPr lang="en-US" sz="3000" dirty="0"/>
          </a:p>
        </p:txBody>
      </p:sp>
      <p:sp>
        <p:nvSpPr>
          <p:cNvPr id="50" name="txt_268"/>
          <p:cNvSpPr txBox="1"/>
          <p:nvPr/>
        </p:nvSpPr>
        <p:spPr>
          <a:xfrm>
            <a:off x="9153144" y="4526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Cible : suivi</a:t>
            </a:r>
            <a:endParaRPr lang="en-US" sz="1200" dirty="0"/>
          </a:p>
        </p:txBody>
      </p:sp>
      <p:sp>
        <p:nvSpPr>
          <p:cNvPr id="51" name="carte_269"/>
          <p:cNvSpPr/>
          <p:nvPr/>
        </p:nvSpPr>
        <p:spPr>
          <a:xfrm>
            <a:off x="548640" y="5349240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2" name="txt_270"/>
          <p:cNvSpPr txBox="1"/>
          <p:nvPr/>
        </p:nvSpPr>
        <p:spPr>
          <a:xfrm>
            <a:off x="822960" y="5349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Satisfaction des étudiants : non mesurée.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Aucune source ne la contient ; un indicateur de substitution tromperait le décideur.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Power BI · Vue Direction : où en sommes-nous ?</a:t>
            </a:r>
            <a:endParaRPr lang="en-US" sz="3200" dirty="0"/>
          </a:p>
        </p:txBody>
      </p:sp>
      <p:sp>
        <p:nvSpPr>
          <p:cNvPr id="3" name="badge_271"/>
          <p:cNvSpPr/>
          <p:nvPr/>
        </p:nvSpPr>
        <p:spPr>
          <a:xfrm>
            <a:off x="548640" y="42976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badge_num_272"/>
          <p:cNvSpPr txBox="1"/>
          <p:nvPr/>
        </p:nvSpPr>
        <p:spPr>
          <a:xfrm>
            <a:off x="548640" y="429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pic>
        <p:nvPicPr>
          <p:cNvPr id="5" name="pbi_direction" descr="Page Vue Direction : CA et montant dû par année, carte Satisfaction non mesurée, CA par rég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2820959"/>
          </a:xfrm>
          <a:prstGeom prst="rect">
            <a:avLst/>
          </a:prstGeom>
        </p:spPr>
      </p:pic>
      <p:sp>
        <p:nvSpPr>
          <p:cNvPr id="6" name="cadre_direction"/>
          <p:cNvSpPr/>
          <p:nvPr/>
        </p:nvSpPr>
        <p:spPr>
          <a:xfrm>
            <a:off x="548640" y="1371600"/>
            <a:ext cx="11064240" cy="2820959"/>
          </a:xfrm>
          <a:prstGeom prst="rect">
            <a:avLst/>
          </a:prstGeom>
          <a:ln w="9525">
            <a:solidFill>
              <a:srgbClr val="C9D4D2"/>
            </a:solidFill>
            <a:prstDash val="solid"/>
          </a:ln>
        </p:spPr>
      </p:sp>
      <p:sp>
        <p:nvSpPr>
          <p:cNvPr id="7" name="carte_273"/>
          <p:cNvSpPr/>
          <p:nvPr/>
        </p:nvSpPr>
        <p:spPr>
          <a:xfrm>
            <a:off x="548640" y="4421159"/>
            <a:ext cx="53949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xt_274"/>
          <p:cNvSpPr txBox="1"/>
          <p:nvPr/>
        </p:nvSpPr>
        <p:spPr>
          <a:xfrm>
            <a:off x="822960" y="4558319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 le correctif</a:t>
            </a:r>
            <a:endParaRPr lang="en-US" sz="1800" dirty="0"/>
          </a:p>
        </p:txBody>
      </p:sp>
      <p:sp>
        <p:nvSpPr>
          <p:cNvPr id="9" name="txt_275"/>
          <p:cNvSpPr txBox="1"/>
          <p:nvPr/>
        </p:nvSpPr>
        <p:spPr>
          <a:xfrm>
            <a:off x="822960" y="5015519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14 barres égales au CA total : la relation paiements → régions était inactive. Kaffrine affichait un recouvrement de 2 821 %.</a:t>
            </a:r>
            <a:endParaRPr lang="en-US" sz="1500" dirty="0"/>
          </a:p>
        </p:txBody>
      </p:sp>
      <p:sp>
        <p:nvSpPr>
          <p:cNvPr id="10" name="carte_276"/>
          <p:cNvSpPr/>
          <p:nvPr/>
        </p:nvSpPr>
        <p:spPr>
          <a:xfrm>
            <a:off x="6217920" y="4421159"/>
            <a:ext cx="53949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xt_277"/>
          <p:cNvSpPr txBox="1"/>
          <p:nvPr/>
        </p:nvSpPr>
        <p:spPr>
          <a:xfrm>
            <a:off x="6492240" y="4558319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Après le correctif</a:t>
            </a:r>
            <a:endParaRPr lang="en-US" sz="1800" dirty="0"/>
          </a:p>
        </p:txBody>
      </p:sp>
      <p:sp>
        <p:nvSpPr>
          <p:cNvPr id="12" name="txt_278"/>
          <p:cNvSpPr txBox="1"/>
          <p:nvPr/>
        </p:nvSpPr>
        <p:spPr>
          <a:xfrm>
            <a:off x="6492240" y="5015519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Dakar ≈ 3,9 Mds XOF (29 %), Thiès ≈ 1,8 Md (13 %) : les mêmes parts que dans l'entrepôt. Un total juste ne prouve pas qu'un filtre est juste.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Power BI · page Finance : où en est le recouvrement ?</a:t>
            </a:r>
            <a:endParaRPr lang="en-US" sz="3200" dirty="0"/>
          </a:p>
        </p:txBody>
      </p:sp>
      <p:sp>
        <p:nvSpPr>
          <p:cNvPr id="3" name="badge_279"/>
          <p:cNvSpPr/>
          <p:nvPr/>
        </p:nvSpPr>
        <p:spPr>
          <a:xfrm>
            <a:off x="548640" y="42976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badge_num_280"/>
          <p:cNvSpPr txBox="1"/>
          <p:nvPr/>
        </p:nvSpPr>
        <p:spPr>
          <a:xfrm>
            <a:off x="548640" y="429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pic>
        <p:nvPicPr>
          <p:cNvPr id="5" name="pbi_finance" descr="Page Finance : recouvrement par filière et par année, impayés par fil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2891410"/>
          </a:xfrm>
          <a:prstGeom prst="rect">
            <a:avLst/>
          </a:prstGeom>
        </p:spPr>
      </p:pic>
      <p:sp>
        <p:nvSpPr>
          <p:cNvPr id="6" name="cadre_finance"/>
          <p:cNvSpPr/>
          <p:nvPr/>
        </p:nvSpPr>
        <p:spPr>
          <a:xfrm>
            <a:off x="548640" y="1371600"/>
            <a:ext cx="11064240" cy="2891410"/>
          </a:xfrm>
          <a:prstGeom prst="rect">
            <a:avLst/>
          </a:prstGeom>
          <a:ln w="9525">
            <a:solidFill>
              <a:srgbClr val="C9D4D2"/>
            </a:solidFill>
            <a:prstDash val="solid"/>
          </a:ln>
        </p:spPr>
      </p:sp>
      <p:sp>
        <p:nvSpPr>
          <p:cNvPr id="7" name="txt_281"/>
          <p:cNvSpPr txBox="1"/>
          <p:nvPr/>
        </p:nvSpPr>
        <p:spPr>
          <a:xfrm>
            <a:off x="548640" y="4526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page, une question</a:t>
            </a:r>
            <a:endParaRPr lang="en-US" sz="1700" dirty="0"/>
          </a:p>
        </p:txBody>
      </p:sp>
      <p:sp>
        <p:nvSpPr>
          <p:cNvPr id="8" name="txt_282"/>
          <p:cNvSpPr txBox="1"/>
          <p:nvPr/>
        </p:nvSpPr>
        <p:spPr>
          <a:xfrm>
            <a:off x="548640" y="495604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Vue Direction, Finance, Pédagogie, Engagement</a:t>
            </a:r>
            <a:endParaRPr lang="en-US" sz="1400" dirty="0"/>
          </a:p>
        </p:txBody>
      </p:sp>
      <p:sp>
        <p:nvSpPr>
          <p:cNvPr id="9" name="txt_283"/>
          <p:cNvSpPr txBox="1"/>
          <p:nvPr/>
        </p:nvSpPr>
        <p:spPr>
          <a:xfrm>
            <a:off x="4297680" y="4526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mesures, pas des colonnes</a:t>
            </a:r>
            <a:endParaRPr lang="en-US" sz="1700" dirty="0"/>
          </a:p>
        </p:txBody>
      </p:sp>
      <p:sp>
        <p:nvSpPr>
          <p:cNvPr id="10" name="txt_284"/>
          <p:cNvSpPr txBox="1"/>
          <p:nvPr/>
        </p:nvSpPr>
        <p:spPr>
          <a:xfrm>
            <a:off x="4297680" y="495604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31 mesures DAX : un taux se recalcule pour chaque filtre</a:t>
            </a:r>
            <a:endParaRPr lang="en-US" sz="1400" dirty="0"/>
          </a:p>
        </p:txBody>
      </p:sp>
      <p:sp>
        <p:nvSpPr>
          <p:cNvPr id="11" name="txt_285"/>
          <p:cNvSpPr txBox="1"/>
          <p:nvPr/>
        </p:nvSpPr>
        <p:spPr>
          <a:xfrm>
            <a:off x="8046720" y="4526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Explorer</a:t>
            </a:r>
            <a:endParaRPr lang="en-US" sz="1700" dirty="0"/>
          </a:p>
        </p:txBody>
      </p:sp>
      <p:sp>
        <p:nvSpPr>
          <p:cNvPr id="12" name="txt_286"/>
          <p:cNvSpPr txBox="1"/>
          <p:nvPr/>
        </p:nvSpPr>
        <p:spPr>
          <a:xfrm>
            <a:off x="8046720" y="495604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5 hiérarchies pour le drill down, segments synchronisés (région, niveau)</a:t>
            </a:r>
            <a:endParaRPr lang="en-US" sz="1400" dirty="0"/>
          </a:p>
        </p:txBody>
      </p:sp>
      <p:sp>
        <p:nvSpPr>
          <p:cNvPr id="13" name="txt_287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Captures de powerbi/EduSmart.pdf, export du 21/10/2026, après correction du modèle.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Power BI · Pédagogie et Engagement</a:t>
            </a:r>
            <a:endParaRPr lang="en-US" sz="3200" dirty="0"/>
          </a:p>
        </p:txBody>
      </p:sp>
      <p:sp>
        <p:nvSpPr>
          <p:cNvPr id="3" name="badge_288"/>
          <p:cNvSpPr/>
          <p:nvPr/>
        </p:nvSpPr>
        <p:spPr>
          <a:xfrm>
            <a:off x="548640" y="42976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badge_num_289"/>
          <p:cNvSpPr txBox="1"/>
          <p:nvPr/>
        </p:nvSpPr>
        <p:spPr>
          <a:xfrm>
            <a:off x="548640" y="429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pic>
        <p:nvPicPr>
          <p:cNvPr id="5" name="pbi_histogramme" descr="Histogramme des scores sur 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108960" cy="3118645"/>
          </a:xfrm>
          <a:prstGeom prst="rect">
            <a:avLst/>
          </a:prstGeom>
        </p:spPr>
      </p:pic>
      <p:sp>
        <p:nvSpPr>
          <p:cNvPr id="6" name="cadre_histo"/>
          <p:cNvSpPr/>
          <p:nvPr/>
        </p:nvSpPr>
        <p:spPr>
          <a:xfrm>
            <a:off x="548640" y="1417320"/>
            <a:ext cx="3108960" cy="3118645"/>
          </a:xfrm>
          <a:prstGeom prst="rect">
            <a:avLst/>
          </a:prstGeom>
          <a:ln w="9525">
            <a:solidFill>
              <a:srgbClr val="C9D4D2"/>
            </a:solidFill>
            <a:prstDash val="solid"/>
          </a:ln>
        </p:spPr>
      </p:sp>
      <p:sp>
        <p:nvSpPr>
          <p:cNvPr id="7" name="txt_290"/>
          <p:cNvSpPr txBox="1"/>
          <p:nvPr/>
        </p:nvSpPr>
        <p:spPr>
          <a:xfrm>
            <a:off x="548640" y="4663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Scores centrés vers 10-12/20, accumulation à 20/20 : un effet plafond</a:t>
            </a:r>
            <a:endParaRPr lang="en-US" sz="1400" dirty="0"/>
          </a:p>
        </p:txBody>
      </p:sp>
      <p:pic>
        <p:nvPicPr>
          <p:cNvPr id="8" name="pbi_engagement" descr="Connexions par jour et par he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417320"/>
            <a:ext cx="7680960" cy="2196585"/>
          </a:xfrm>
          <a:prstGeom prst="rect">
            <a:avLst/>
          </a:prstGeom>
        </p:spPr>
      </p:pic>
      <p:sp>
        <p:nvSpPr>
          <p:cNvPr id="9" name="cadre_engag"/>
          <p:cNvSpPr/>
          <p:nvPr/>
        </p:nvSpPr>
        <p:spPr>
          <a:xfrm>
            <a:off x="3931920" y="1417320"/>
            <a:ext cx="7680960" cy="2196585"/>
          </a:xfrm>
          <a:prstGeom prst="rect">
            <a:avLst/>
          </a:prstGeom>
          <a:ln w="9525">
            <a:solidFill>
              <a:srgbClr val="C9D4D2"/>
            </a:solidFill>
            <a:prstDash val="solid"/>
          </a:ln>
        </p:spPr>
      </p:sp>
      <p:sp>
        <p:nvSpPr>
          <p:cNvPr id="10" name="txt_291"/>
          <p:cNvSpPr txBox="1"/>
          <p:nvPr/>
        </p:nvSpPr>
        <p:spPr>
          <a:xfrm>
            <a:off x="3931920" y="3796785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62 142 connexions par jour et par heure : pic entre 20 h et 22 h, aucune connexion avant 6 h, pas d'effet week-end. Ce motif est un paramètre de la simulation ; sur données réelles, il dirait quand programmer classes virtuelles et maintenance.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 taux de recouvrement est stable, les impayés doublent</a:t>
            </a:r>
            <a:endParaRPr lang="en-US" sz="3200" dirty="0"/>
          </a:p>
        </p:txBody>
      </p:sp>
      <p:graphicFrame>
        <p:nvGraphicFramePr>
          <p:cNvPr id="3" name="graph_impayes" descr=""/>
          <p:cNvGraphicFramePr/>
          <p:nvPr/>
        </p:nvGraphicFramePr>
        <p:xfrm>
          <a:off x="548640" y="1371600"/>
          <a:ext cx="62179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xt_292"/>
          <p:cNvSpPr txBox="1"/>
          <p:nvPr/>
        </p:nvSpPr>
        <p:spPr>
          <a:xfrm>
            <a:off x="7132320" y="13716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1 489 M XOF</a:t>
            </a:r>
            <a:endParaRPr lang="en-US" sz="3400" dirty="0"/>
          </a:p>
        </p:txBody>
      </p:sp>
      <p:sp>
        <p:nvSpPr>
          <p:cNvPr id="5" name="txt_293"/>
          <p:cNvSpPr txBox="1"/>
          <p:nvPr/>
        </p:nvSpPr>
        <p:spPr>
          <a:xfrm>
            <a:off x="7132320" y="212140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non encaissés sur trois ans, pour 15 043 M dus</a:t>
            </a:r>
            <a:endParaRPr lang="en-US" sz="1400" dirty="0"/>
          </a:p>
        </p:txBody>
      </p:sp>
      <p:sp>
        <p:nvSpPr>
          <p:cNvPr id="6" name="txt_294"/>
          <p:cNvSpPr txBox="1"/>
          <p:nvPr/>
        </p:nvSpPr>
        <p:spPr>
          <a:xfrm>
            <a:off x="7132320" y="27889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90,19 → 89,51 %</a:t>
            </a:r>
            <a:endParaRPr lang="en-US" sz="3000" dirty="0"/>
          </a:p>
        </p:txBody>
      </p:sp>
      <p:sp>
        <p:nvSpPr>
          <p:cNvPr id="7" name="txt_295"/>
          <p:cNvSpPr txBox="1"/>
          <p:nvPr/>
        </p:nvSpPr>
        <p:spPr>
          <a:xfrm>
            <a:off x="7132320" y="35387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un taux stable : l'activité double, les impayés aussi</a:t>
            </a:r>
            <a:endParaRPr lang="en-US" sz="1400" dirty="0"/>
          </a:p>
        </p:txBody>
      </p:sp>
      <p:sp>
        <p:nvSpPr>
          <p:cNvPr id="8" name="txt_296"/>
          <p:cNvSpPr txBox="1"/>
          <p:nvPr/>
        </p:nvSpPr>
        <p:spPr>
          <a:xfrm>
            <a:off x="7132320" y="42062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88,57 à 93,29 %</a:t>
            </a:r>
            <a:endParaRPr lang="en-US" sz="3000" dirty="0"/>
          </a:p>
        </p:txBody>
      </p:sp>
      <p:sp>
        <p:nvSpPr>
          <p:cNvPr id="9" name="txt_297"/>
          <p:cNvSpPr txBox="1"/>
          <p:nvPr/>
        </p:nvSpPr>
        <p:spPr>
          <a:xfrm>
            <a:off x="7132320" y="495604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aucune région en décrochage (Kaffrine : 89,68 %)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 réussit les quiz, on ne finit pas les parcours</a:t>
            </a:r>
            <a:endParaRPr lang="en-US" sz="3200" dirty="0"/>
          </a:p>
        </p:txBody>
      </p:sp>
      <p:sp>
        <p:nvSpPr>
          <p:cNvPr id="3" name="carte_298"/>
          <p:cNvSpPr/>
          <p:nvPr/>
        </p:nvSpPr>
        <p:spPr>
          <a:xfrm>
            <a:off x="548640" y="1371600"/>
            <a:ext cx="5394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xt_299"/>
          <p:cNvSpPr txBox="1"/>
          <p:nvPr/>
        </p:nvSpPr>
        <p:spPr>
          <a:xfrm>
            <a:off x="822960" y="14630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93,13 %</a:t>
            </a:r>
            <a:endParaRPr lang="en-US" sz="3800" dirty="0"/>
          </a:p>
        </p:txBody>
      </p:sp>
      <p:sp>
        <p:nvSpPr>
          <p:cNvPr id="5" name="txt_300"/>
          <p:cNvSpPr txBox="1"/>
          <p:nvPr/>
        </p:nvSpPr>
        <p:spPr>
          <a:xfrm>
            <a:off x="822960" y="22128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 couples (étudiant, quiz) validés, toutes tentatives confondues</a:t>
            </a:r>
            <a:endParaRPr lang="en-US" sz="1400" dirty="0"/>
          </a:p>
        </p:txBody>
      </p:sp>
      <p:sp>
        <p:nvSpPr>
          <p:cNvPr id="6" name="carte_301"/>
          <p:cNvSpPr/>
          <p:nvPr/>
        </p:nvSpPr>
        <p:spPr>
          <a:xfrm>
            <a:off x="6172200" y="1371600"/>
            <a:ext cx="5394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xt_302"/>
          <p:cNvSpPr txBox="1"/>
          <p:nvPr/>
        </p:nvSpPr>
        <p:spPr>
          <a:xfrm>
            <a:off x="6446520" y="14630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65,59 %</a:t>
            </a:r>
            <a:endParaRPr lang="en-US" sz="3800" dirty="0"/>
          </a:p>
        </p:txBody>
      </p:sp>
      <p:sp>
        <p:nvSpPr>
          <p:cNvPr id="8" name="txt_303"/>
          <p:cNvSpPr txBox="1"/>
          <p:nvPr/>
        </p:nvSpPr>
        <p:spPr>
          <a:xfrm>
            <a:off x="6446520" y="22128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 progression moyenne, pour une cible proposée de 70 %</a:t>
            </a:r>
            <a:endParaRPr lang="en-US" sz="1400" dirty="0"/>
          </a:p>
        </p:txBody>
      </p:sp>
      <p:sp>
        <p:nvSpPr>
          <p:cNvPr id="9" name="carte_304"/>
          <p:cNvSpPr/>
          <p:nvPr/>
        </p:nvSpPr>
        <p:spPr>
          <a:xfrm>
            <a:off x="548640" y="3246120"/>
            <a:ext cx="5394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xt_305"/>
          <p:cNvSpPr txBox="1"/>
          <p:nvPr/>
        </p:nvSpPr>
        <p:spPr>
          <a:xfrm>
            <a:off x="822960" y="33375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6,24 %</a:t>
            </a:r>
            <a:endParaRPr lang="en-US" sz="3800" dirty="0"/>
          </a:p>
        </p:txBody>
      </p:sp>
      <p:sp>
        <p:nvSpPr>
          <p:cNvPr id="11" name="txt_306"/>
          <p:cNvSpPr txBox="1"/>
          <p:nvPr/>
        </p:nvSpPr>
        <p:spPr>
          <a:xfrm>
            <a:off x="822960" y="40873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d'abandon, stable sur trois ans : un phénomène structurel</a:t>
            </a:r>
            <a:endParaRPr lang="en-US" sz="1400" dirty="0"/>
          </a:p>
        </p:txBody>
      </p:sp>
      <p:sp>
        <p:nvSpPr>
          <p:cNvPr id="12" name="carte_307"/>
          <p:cNvSpPr/>
          <p:nvPr/>
        </p:nvSpPr>
        <p:spPr>
          <a:xfrm>
            <a:off x="6172200" y="3246120"/>
            <a:ext cx="5394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xt_308"/>
          <p:cNvSpPr txBox="1"/>
          <p:nvPr/>
        </p:nvSpPr>
        <p:spPr>
          <a:xfrm>
            <a:off x="6446520" y="33375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28,6 %</a:t>
            </a:r>
            <a:endParaRPr lang="en-US" sz="3800" dirty="0"/>
          </a:p>
        </p:txBody>
      </p:sp>
      <p:sp>
        <p:nvSpPr>
          <p:cNvPr id="14" name="txt_309"/>
          <p:cNvSpPr txBox="1"/>
          <p:nvPr/>
        </p:nvSpPr>
        <p:spPr>
          <a:xfrm>
            <a:off x="6446520" y="40873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d'étudiants actifs sur 30 jours : une valeur minimale (vidéos non comptées)</a:t>
            </a:r>
            <a:endParaRPr lang="en-US" sz="1400" dirty="0"/>
          </a:p>
        </p:txBody>
      </p:sp>
      <p:sp>
        <p:nvSpPr>
          <p:cNvPr id="15" name="txt_310"/>
          <p:cNvSpPr txBox="1"/>
          <p:nvPr/>
        </p:nvSpPr>
        <p:spPr>
          <a:xfrm>
            <a:off x="548640" y="5257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Associations, pas causes : ceux qui retentent ont un score plus bas (r = −0,20) ; plus d'heures connectées ne s'accompagnent pas d'une meilleure progression (r = −0,01).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6 409 heures de cours non remplacées en trois ans</a:t>
            </a:r>
            <a:endParaRPr lang="en-US" sz="3200" dirty="0"/>
          </a:p>
        </p:txBody>
      </p:sp>
      <p:graphicFrame>
        <p:nvGraphicFramePr>
          <p:cNvPr id="3" name="graph_rh" descr=""/>
          <p:cNvGraphicFramePr/>
          <p:nvPr/>
        </p:nvGraphicFramePr>
        <p:xfrm>
          <a:off x="548640" y="1371600"/>
          <a:ext cx="62179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xt_311"/>
          <p:cNvSpPr txBox="1"/>
          <p:nvPr/>
        </p:nvSpPr>
        <p:spPr>
          <a:xfrm>
            <a:off x="7132320" y="13716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61,8 %</a:t>
            </a:r>
            <a:endParaRPr lang="en-US" sz="3800" dirty="0"/>
          </a:p>
        </p:txBody>
      </p:sp>
      <p:sp>
        <p:nvSpPr>
          <p:cNvPr id="5" name="txt_312"/>
          <p:cNvSpPr txBox="1"/>
          <p:nvPr/>
        </p:nvSpPr>
        <p:spPr>
          <a:xfrm>
            <a:off x="7132320" y="212140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des heures d'absence ne sont pas remplacées (2 343 absences)</a:t>
            </a:r>
            <a:endParaRPr lang="en-US" sz="1400" dirty="0"/>
          </a:p>
        </p:txBody>
      </p:sp>
      <p:sp>
        <p:nvSpPr>
          <p:cNvPr id="6" name="txt_313"/>
          <p:cNvSpPr txBox="1"/>
          <p:nvPr/>
        </p:nvSpPr>
        <p:spPr>
          <a:xfrm>
            <a:off x="7132320" y="27889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3 034 M XOF</a:t>
            </a:r>
            <a:endParaRPr lang="en-US" sz="3200" dirty="0"/>
          </a:p>
        </p:txBody>
      </p:sp>
      <p:sp>
        <p:nvSpPr>
          <p:cNvPr id="7" name="txt_314"/>
          <p:cNvSpPr txBox="1"/>
          <p:nvPr/>
        </p:nvSpPr>
        <p:spPr>
          <a:xfrm>
            <a:off x="7132320" y="35387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 masse salariale nette sur trois ans, dont 90 % pour les permanents</a:t>
            </a:r>
            <a:endParaRPr lang="en-US" sz="1400" dirty="0"/>
          </a:p>
        </p:txBody>
      </p:sp>
      <p:sp>
        <p:nvSpPr>
          <p:cNvPr id="8" name="txt_315"/>
          <p:cNvSpPr txBox="1"/>
          <p:nvPr/>
        </p:nvSpPr>
        <p:spPr>
          <a:xfrm>
            <a:off x="7132320" y="42062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+7,7 %</a:t>
            </a:r>
            <a:endParaRPr lang="en-US" sz="3800" dirty="0"/>
          </a:p>
        </p:txBody>
      </p:sp>
      <p:sp>
        <p:nvSpPr>
          <p:cNvPr id="9" name="txt_316"/>
          <p:cNvSpPr txBox="1"/>
          <p:nvPr/>
        </p:nvSpPr>
        <p:spPr>
          <a:xfrm>
            <a:off x="7132320" y="495604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 salaire net moyen par bulletin en deux ans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Sept recommandations, deux priorités</a:t>
            </a:r>
            <a:endParaRPr lang="en-US" sz="3200" dirty="0"/>
          </a:p>
        </p:txBody>
      </p:sp>
      <p:sp>
        <p:nvSpPr>
          <p:cNvPr id="3" name="badge_317"/>
          <p:cNvSpPr/>
          <p:nvPr/>
        </p:nvSpPr>
        <p:spPr>
          <a:xfrm>
            <a:off x="548640" y="42976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badge_num_318"/>
          <p:cNvSpPr txBox="1"/>
          <p:nvPr/>
        </p:nvSpPr>
        <p:spPr>
          <a:xfrm>
            <a:off x="548640" y="429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graphicFrame>
        <p:nvGraphicFramePr>
          <p:cNvPr id="20" name="table_rec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675120"/>
                <a:gridCol w="2560320"/>
                <a:gridCol w="1097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Recommandation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de suivi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Mesurer la satisfaction : score de 1 à 5 en fin de module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Relancer les impayés dès la 2ᵉ tranche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Recouvrement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Évaluer les enseignements ; table d'affectation enseignant ↔ cours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 par enseignant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Réactiver les inactifs après 15 jours ; tutorat ciblé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Actifs, abandon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Remplacer les enseignants absents (vacataires, cours enregistrés)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Heures remplacées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Intégrer vidéos et téléchargements au DW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Actifs (30 j)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Normaliser la saisie à la source (listes fermées)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Conformité qualité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xt_319"/>
          <p:cNvSpPr txBox="1"/>
          <p:nvPr/>
        </p:nvSpPr>
        <p:spPr>
          <a:xfrm>
            <a:off x="548640" y="5349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Pourquoi R1 d'abord : impayés, inactivité et abandon ont peut-être une cause commune que les données actuelles ne permettent pas d'établir. Sans la voix des étudiants, on traite les symptômes.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Ce que ces données ne permettent pas de dire</a:t>
            </a:r>
            <a:endParaRPr lang="en-US" sz="3200" dirty="0"/>
          </a:p>
        </p:txBody>
      </p:sp>
      <p:sp>
        <p:nvSpPr>
          <p:cNvPr id="3" name="carte_320"/>
          <p:cNvSpPr/>
          <p:nvPr/>
        </p:nvSpPr>
        <p:spPr>
          <a:xfrm>
            <a:off x="548640" y="1371600"/>
            <a:ext cx="53949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xt_321"/>
          <p:cNvSpPr txBox="1"/>
          <p:nvPr/>
        </p:nvSpPr>
        <p:spPr>
          <a:xfrm>
            <a:off x="82296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données simulées</a:t>
            </a:r>
            <a:endParaRPr lang="en-US" sz="1900" dirty="0"/>
          </a:p>
        </p:txBody>
      </p:sp>
      <p:sp>
        <p:nvSpPr>
          <p:cNvPr id="5" name="txt_322"/>
          <p:cNvSpPr txBox="1"/>
          <p:nvPr/>
        </p:nvSpPr>
        <p:spPr>
          <a:xfrm>
            <a:off x="822960" y="20574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Pic à 20 h, poids de Dakar, abandon de 6 % : le pipeline retrouve les paramètres injectés. C'est une preuve de fidélité, pas un comportement réel.</a:t>
            </a:r>
            <a:endParaRPr lang="en-US" sz="1500" dirty="0"/>
          </a:p>
        </p:txBody>
      </p:sp>
      <p:sp>
        <p:nvSpPr>
          <p:cNvPr id="6" name="carte_323"/>
          <p:cNvSpPr/>
          <p:nvPr/>
        </p:nvSpPr>
        <p:spPr>
          <a:xfrm>
            <a:off x="6172200" y="1371600"/>
            <a:ext cx="53949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xt_324"/>
          <p:cNvSpPr txBox="1"/>
          <p:nvPr/>
        </p:nvSpPr>
        <p:spPr>
          <a:xfrm>
            <a:off x="644652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angles morts</a:t>
            </a:r>
            <a:endParaRPr lang="en-US" sz="1900" dirty="0"/>
          </a:p>
        </p:txBody>
      </p:sp>
      <p:sp>
        <p:nvSpPr>
          <p:cNvPr id="8" name="txt_325"/>
          <p:cNvSpPr txBox="1"/>
          <p:nvPr/>
        </p:nvSpPr>
        <p:spPr>
          <a:xfrm>
            <a:off x="6446520" y="20574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Ni la satisfaction des étudiants, ni la qualité des enseignants ne sont mesurées : 2 des 7 questions du DG restent sans réponse.</a:t>
            </a:r>
            <a:endParaRPr lang="en-US" sz="1500" dirty="0"/>
          </a:p>
        </p:txBody>
      </p:sp>
      <p:sp>
        <p:nvSpPr>
          <p:cNvPr id="9" name="carte_326"/>
          <p:cNvSpPr/>
          <p:nvPr/>
        </p:nvSpPr>
        <p:spPr>
          <a:xfrm>
            <a:off x="548640" y="3474720"/>
            <a:ext cx="53949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xt_327"/>
          <p:cNvSpPr txBox="1"/>
          <p:nvPr/>
        </p:nvSpPr>
        <p:spPr>
          <a:xfrm>
            <a:off x="822960" y="3657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taux de 2 821 %</a:t>
            </a:r>
            <a:endParaRPr lang="en-US" sz="1900" dirty="0"/>
          </a:p>
        </p:txBody>
      </p:sp>
      <p:sp>
        <p:nvSpPr>
          <p:cNvPr id="11" name="txt_328"/>
          <p:cNvSpPr txBox="1"/>
          <p:nvPr/>
        </p:nvSpPr>
        <p:spPr>
          <a:xfrm>
            <a:off x="822960" y="41605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Kaffrine dans Power BI, contre 89,68 % dans l'entrepôt : une relation inactive dans le modèle, corrigée. Un total juste ne prouve pas qu'un filtre est juste.</a:t>
            </a:r>
            <a:endParaRPr lang="en-US" sz="1500" dirty="0"/>
          </a:p>
        </p:txBody>
      </p:sp>
      <p:sp>
        <p:nvSpPr>
          <p:cNvPr id="12" name="carte_329"/>
          <p:cNvSpPr/>
          <p:nvPr/>
        </p:nvSpPr>
        <p:spPr>
          <a:xfrm>
            <a:off x="6172200" y="3474720"/>
            <a:ext cx="53949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xt_330"/>
          <p:cNvSpPr txBox="1"/>
          <p:nvPr/>
        </p:nvSpPr>
        <p:spPr>
          <a:xfrm>
            <a:off x="6446520" y="3657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d'historique chargé</a:t>
            </a:r>
            <a:endParaRPr lang="en-US" sz="1900" dirty="0"/>
          </a:p>
        </p:txBody>
      </p:sp>
      <p:sp>
        <p:nvSpPr>
          <p:cNvPr id="14" name="txt_331"/>
          <p:cNvSpPr txBox="1"/>
          <p:nvPr/>
        </p:nvSpPr>
        <p:spPr>
          <a:xfrm>
            <a:off x="6446520" y="41605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mécanisme SCD 2 est en place et testé, mais l'entrepôt actuel ne contient aucun déménagement ; un seul snapshot temps réel.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Engager et écouter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Les fondamentaux sont sains : 10 500 étudiants, 13,55 milliards de XOF encaissés, 90 % de recouvrement.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Les alertes sont ailleurs : les impayés doublent, 7 étudiants sur 10 ne se manifestent plus, l'abandon dépasse la cible.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Première décision : mesurer la satisfaction des étudiants.</a:t>
            </a:r>
            <a:endParaRPr lang="en-US" sz="2000" dirty="0"/>
          </a:p>
        </p:txBody>
      </p:sp>
      <p:sp>
        <p:nvSpPr>
          <p:cNvPr id="4" name="motif_fin"/>
          <p:cNvSpPr/>
          <p:nvPr/>
        </p:nvSpPr>
        <p:spPr>
          <a:xfrm>
            <a:off x="548640" y="12344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EduSmart">
  <a:themeElements>
    <a:clrScheme name="EduSmart">
      <a:dk1>
        <a:srgbClr val="1B2A41"/>
      </a:dk1>
      <a:lt1>
        <a:srgbClr val="FFFFFF"/>
      </a:lt1>
      <a:dk2>
        <a:srgbClr val="0F766E"/>
      </a:dk2>
      <a:lt2>
        <a:srgbClr val="EEF4F3"/>
      </a:lt2>
      <a:accent1>
        <a:srgbClr val="0F766E"/>
      </a:accent1>
      <a:accent2>
        <a:srgbClr val="E8A33D"/>
      </a:accent2>
      <a:accent3>
        <a:srgbClr val="1B2A41"/>
      </a:accent3>
      <a:accent4>
        <a:srgbClr val="B4471B"/>
      </a:accent4>
      <a:accent5>
        <a:srgbClr val="5B6B7F"/>
      </a:accent5>
      <a:accent6>
        <a:srgbClr val="2E7D4F"/>
      </a:accent6>
      <a:hlink>
        <a:srgbClr val="0F766E"/>
      </a:hlink>
      <a:folHlink>
        <a:srgbClr val="1B2A41"/>
      </a:folHlink>
    </a:clrScheme>
    <a:fontScheme name="EduSmar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EduSmart Decision Platform</dc:title>
  <dc:subject>Phase 18 - Présentation</dc:subject>
  <dc:creator>Ndeye Penda SARR</dc:creator>
  <cp:lastModifiedBy>Ndeye Penda SARR</cp:lastModifiedBy>
  <cp:revision>1</cp:revision>
  <dcterms:created xsi:type="dcterms:W3CDTF">2026-10-21T17:09:03Z</dcterms:created>
  <dcterms:modified xsi:type="dcterms:W3CDTF">2026-10-21T17:09:03Z</dcterms:modified>
</cp:coreProperties>
</file>